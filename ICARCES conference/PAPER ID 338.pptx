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sldIdLst>
    <p:sldId id="258" r:id="rId2"/>
    <p:sldId id="257"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0000"/>
    <a:srgbClr val="DE0000"/>
    <a:srgbClr val="FF7575"/>
    <a:srgbClr val="CC3300"/>
    <a:srgbClr val="F20000"/>
    <a:srgbClr val="FF2D2D"/>
    <a:srgbClr val="FF4F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032D03-92F9-48B1-A715-4724AA68D033}" type="datetimeFigureOut">
              <a:rPr lang="en-IN" smtClean="0"/>
              <a:t>26-02-2025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A48F82-26D7-4BB7-89E9-91A460052B73}" type="slidenum">
              <a:rPr lang="en-IN" smtClean="0"/>
              <a:t>‹#›</a:t>
            </a:fld>
            <a:endParaRPr lang="en-IN"/>
          </a:p>
        </p:txBody>
      </p:sp>
    </p:spTree>
    <p:extLst>
      <p:ext uri="{BB962C8B-B14F-4D97-AF65-F5344CB8AC3E}">
        <p14:creationId xmlns:p14="http://schemas.microsoft.com/office/powerpoint/2010/main" val="3228224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D52F6FF-BEDC-4A39-9C01-F82FB3BF0598}" type="datetime1">
              <a:rPr lang="en-IN" smtClean="0"/>
              <a:t>26-02-2025</a:t>
            </a:fld>
            <a:endParaRPr lang="en-IN"/>
          </a:p>
        </p:txBody>
      </p:sp>
      <p:sp>
        <p:nvSpPr>
          <p:cNvPr id="5" name="Footer Placeholder 4"/>
          <p:cNvSpPr>
            <a:spLocks noGrp="1"/>
          </p:cNvSpPr>
          <p:nvPr>
            <p:ph type="ftr" sz="quarter" idx="11"/>
          </p:nvPr>
        </p:nvSpPr>
        <p:spPr/>
        <p:txBody>
          <a:bodyPr/>
          <a:lstStyle/>
          <a:p>
            <a:r>
              <a:rPr lang="en-US"/>
              <a:t>Name of Author, Organization, Country</a:t>
            </a:r>
            <a:endParaRPr lang="en-IN"/>
          </a:p>
        </p:txBody>
      </p:sp>
      <p:sp>
        <p:nvSpPr>
          <p:cNvPr id="6" name="Slide Number Placeholder 5"/>
          <p:cNvSpPr>
            <a:spLocks noGrp="1"/>
          </p:cNvSpPr>
          <p:nvPr>
            <p:ph type="sldNum" sz="quarter" idx="12"/>
          </p:nvPr>
        </p:nvSpPr>
        <p:spPr/>
        <p:txBody>
          <a:bodyPr/>
          <a:lstStyle/>
          <a:p>
            <a:fld id="{332AB3C6-D06C-4F79-982A-7E2D2BE28207}" type="slidenum">
              <a:rPr lang="en-IN" smtClean="0"/>
              <a:t>‹#›</a:t>
            </a:fld>
            <a:endParaRPr lang="en-IN"/>
          </a:p>
        </p:txBody>
      </p:sp>
    </p:spTree>
    <p:extLst>
      <p:ext uri="{BB962C8B-B14F-4D97-AF65-F5344CB8AC3E}">
        <p14:creationId xmlns:p14="http://schemas.microsoft.com/office/powerpoint/2010/main" val="3206813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399FBD9-19BA-4FCA-B738-4AD730D908BD}" type="datetime1">
              <a:rPr lang="en-IN" smtClean="0"/>
              <a:t>26-02-2025</a:t>
            </a:fld>
            <a:endParaRPr lang="en-IN"/>
          </a:p>
        </p:txBody>
      </p:sp>
      <p:sp>
        <p:nvSpPr>
          <p:cNvPr id="5" name="Footer Placeholder 4"/>
          <p:cNvSpPr>
            <a:spLocks noGrp="1"/>
          </p:cNvSpPr>
          <p:nvPr>
            <p:ph type="ftr" sz="quarter" idx="11"/>
          </p:nvPr>
        </p:nvSpPr>
        <p:spPr/>
        <p:txBody>
          <a:bodyPr/>
          <a:lstStyle/>
          <a:p>
            <a:r>
              <a:rPr lang="en-US"/>
              <a:t>Name of Author, Organization, Country</a:t>
            </a:r>
            <a:endParaRPr lang="en-IN"/>
          </a:p>
        </p:txBody>
      </p:sp>
      <p:sp>
        <p:nvSpPr>
          <p:cNvPr id="6" name="Slide Number Placeholder 5"/>
          <p:cNvSpPr>
            <a:spLocks noGrp="1"/>
          </p:cNvSpPr>
          <p:nvPr>
            <p:ph type="sldNum" sz="quarter" idx="12"/>
          </p:nvPr>
        </p:nvSpPr>
        <p:spPr/>
        <p:txBody>
          <a:bodyPr/>
          <a:lstStyle/>
          <a:p>
            <a:fld id="{332AB3C6-D06C-4F79-982A-7E2D2BE28207}" type="slidenum">
              <a:rPr lang="en-IN" smtClean="0"/>
              <a:t>‹#›</a:t>
            </a:fld>
            <a:endParaRPr lang="en-IN"/>
          </a:p>
        </p:txBody>
      </p:sp>
    </p:spTree>
    <p:extLst>
      <p:ext uri="{BB962C8B-B14F-4D97-AF65-F5344CB8AC3E}">
        <p14:creationId xmlns:p14="http://schemas.microsoft.com/office/powerpoint/2010/main" val="2254988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1F5DA40-937D-450C-8432-4A763FBEE688}" type="datetime1">
              <a:rPr lang="en-IN" smtClean="0"/>
              <a:t>26-02-2025</a:t>
            </a:fld>
            <a:endParaRPr lang="en-IN"/>
          </a:p>
        </p:txBody>
      </p:sp>
      <p:sp>
        <p:nvSpPr>
          <p:cNvPr id="5" name="Footer Placeholder 4"/>
          <p:cNvSpPr>
            <a:spLocks noGrp="1"/>
          </p:cNvSpPr>
          <p:nvPr>
            <p:ph type="ftr" sz="quarter" idx="11"/>
          </p:nvPr>
        </p:nvSpPr>
        <p:spPr/>
        <p:txBody>
          <a:bodyPr/>
          <a:lstStyle/>
          <a:p>
            <a:r>
              <a:rPr lang="en-US"/>
              <a:t>Name of Author, Organization, Country</a:t>
            </a:r>
            <a:endParaRPr lang="en-IN"/>
          </a:p>
        </p:txBody>
      </p:sp>
      <p:sp>
        <p:nvSpPr>
          <p:cNvPr id="6" name="Slide Number Placeholder 5"/>
          <p:cNvSpPr>
            <a:spLocks noGrp="1"/>
          </p:cNvSpPr>
          <p:nvPr>
            <p:ph type="sldNum" sz="quarter" idx="12"/>
          </p:nvPr>
        </p:nvSpPr>
        <p:spPr/>
        <p:txBody>
          <a:bodyPr/>
          <a:lstStyle/>
          <a:p>
            <a:fld id="{332AB3C6-D06C-4F79-982A-7E2D2BE28207}" type="slidenum">
              <a:rPr lang="en-IN" smtClean="0"/>
              <a:t>‹#›</a:t>
            </a:fld>
            <a:endParaRPr lang="en-IN"/>
          </a:p>
        </p:txBody>
      </p:sp>
    </p:spTree>
    <p:extLst>
      <p:ext uri="{BB962C8B-B14F-4D97-AF65-F5344CB8AC3E}">
        <p14:creationId xmlns:p14="http://schemas.microsoft.com/office/powerpoint/2010/main" val="1100298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92C08FC-0D9C-4AC1-B713-0E2A0071A2D6}" type="datetime1">
              <a:rPr lang="en-IN" smtClean="0"/>
              <a:t>26-02-2025</a:t>
            </a:fld>
            <a:endParaRPr lang="en-IN"/>
          </a:p>
        </p:txBody>
      </p:sp>
      <p:sp>
        <p:nvSpPr>
          <p:cNvPr id="6" name="Footer Placeholder 5"/>
          <p:cNvSpPr>
            <a:spLocks noGrp="1"/>
          </p:cNvSpPr>
          <p:nvPr>
            <p:ph type="ftr" sz="quarter" idx="11"/>
          </p:nvPr>
        </p:nvSpPr>
        <p:spPr/>
        <p:txBody>
          <a:bodyPr/>
          <a:lstStyle/>
          <a:p>
            <a:r>
              <a:rPr lang="en-US"/>
              <a:t>Name of Author, Organization, Country</a:t>
            </a:r>
            <a:endParaRPr lang="en-IN"/>
          </a:p>
        </p:txBody>
      </p:sp>
      <p:sp>
        <p:nvSpPr>
          <p:cNvPr id="7" name="Slide Number Placeholder 6"/>
          <p:cNvSpPr>
            <a:spLocks noGrp="1"/>
          </p:cNvSpPr>
          <p:nvPr>
            <p:ph type="sldNum" sz="quarter" idx="12"/>
          </p:nvPr>
        </p:nvSpPr>
        <p:spPr/>
        <p:txBody>
          <a:bodyPr/>
          <a:lstStyle/>
          <a:p>
            <a:fld id="{332AB3C6-D06C-4F79-982A-7E2D2BE28207}" type="slidenum">
              <a:rPr lang="en-IN" smtClean="0"/>
              <a:t>‹#›</a:t>
            </a:fld>
            <a:endParaRPr lang="en-IN"/>
          </a:p>
        </p:txBody>
      </p:sp>
    </p:spTree>
    <p:extLst>
      <p:ext uri="{BB962C8B-B14F-4D97-AF65-F5344CB8AC3E}">
        <p14:creationId xmlns:p14="http://schemas.microsoft.com/office/powerpoint/2010/main" val="2843225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C863848-7EB3-4BDA-8722-80F38D2575C5}" type="datetime1">
              <a:rPr lang="en-IN" smtClean="0"/>
              <a:t>26-02-2025</a:t>
            </a:fld>
            <a:endParaRPr lang="en-IN"/>
          </a:p>
        </p:txBody>
      </p:sp>
      <p:sp>
        <p:nvSpPr>
          <p:cNvPr id="8" name="Footer Placeholder 7"/>
          <p:cNvSpPr>
            <a:spLocks noGrp="1"/>
          </p:cNvSpPr>
          <p:nvPr>
            <p:ph type="ftr" sz="quarter" idx="11"/>
          </p:nvPr>
        </p:nvSpPr>
        <p:spPr/>
        <p:txBody>
          <a:bodyPr/>
          <a:lstStyle/>
          <a:p>
            <a:r>
              <a:rPr lang="en-US"/>
              <a:t>Name of Author, Organization, Country</a:t>
            </a:r>
            <a:endParaRPr lang="en-IN"/>
          </a:p>
        </p:txBody>
      </p:sp>
      <p:sp>
        <p:nvSpPr>
          <p:cNvPr id="9" name="Slide Number Placeholder 8"/>
          <p:cNvSpPr>
            <a:spLocks noGrp="1"/>
          </p:cNvSpPr>
          <p:nvPr>
            <p:ph type="sldNum" sz="quarter" idx="12"/>
          </p:nvPr>
        </p:nvSpPr>
        <p:spPr/>
        <p:txBody>
          <a:bodyPr/>
          <a:lstStyle/>
          <a:p>
            <a:fld id="{332AB3C6-D06C-4F79-982A-7E2D2BE28207}" type="slidenum">
              <a:rPr lang="en-IN" smtClean="0"/>
              <a:t>‹#›</a:t>
            </a:fld>
            <a:endParaRPr lang="en-IN"/>
          </a:p>
        </p:txBody>
      </p:sp>
    </p:spTree>
    <p:extLst>
      <p:ext uri="{BB962C8B-B14F-4D97-AF65-F5344CB8AC3E}">
        <p14:creationId xmlns:p14="http://schemas.microsoft.com/office/powerpoint/2010/main" val="1913465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32077CC-EE61-4403-9DCB-72E60AD4F26C}" type="datetime1">
              <a:rPr lang="en-IN" smtClean="0"/>
              <a:t>26-02-2025</a:t>
            </a:fld>
            <a:endParaRPr lang="en-IN"/>
          </a:p>
        </p:txBody>
      </p:sp>
      <p:sp>
        <p:nvSpPr>
          <p:cNvPr id="4" name="Footer Placeholder 3"/>
          <p:cNvSpPr>
            <a:spLocks noGrp="1"/>
          </p:cNvSpPr>
          <p:nvPr>
            <p:ph type="ftr" sz="quarter" idx="11"/>
          </p:nvPr>
        </p:nvSpPr>
        <p:spPr/>
        <p:txBody>
          <a:bodyPr/>
          <a:lstStyle/>
          <a:p>
            <a:r>
              <a:rPr lang="en-US"/>
              <a:t>Name of Author, Organization, Country</a:t>
            </a:r>
            <a:endParaRPr lang="en-IN"/>
          </a:p>
        </p:txBody>
      </p:sp>
      <p:sp>
        <p:nvSpPr>
          <p:cNvPr id="5" name="Slide Number Placeholder 4"/>
          <p:cNvSpPr>
            <a:spLocks noGrp="1"/>
          </p:cNvSpPr>
          <p:nvPr>
            <p:ph type="sldNum" sz="quarter" idx="12"/>
          </p:nvPr>
        </p:nvSpPr>
        <p:spPr/>
        <p:txBody>
          <a:bodyPr/>
          <a:lstStyle/>
          <a:p>
            <a:fld id="{332AB3C6-D06C-4F79-982A-7E2D2BE28207}" type="slidenum">
              <a:rPr lang="en-IN" smtClean="0"/>
              <a:t>‹#›</a:t>
            </a:fld>
            <a:endParaRPr lang="en-IN"/>
          </a:p>
        </p:txBody>
      </p:sp>
    </p:spTree>
    <p:extLst>
      <p:ext uri="{BB962C8B-B14F-4D97-AF65-F5344CB8AC3E}">
        <p14:creationId xmlns:p14="http://schemas.microsoft.com/office/powerpoint/2010/main" val="2762817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C6A2F6-C7FD-43F4-AB48-B97B73AE1279}" type="datetime1">
              <a:rPr lang="en-IN" smtClean="0"/>
              <a:t>26-02-2025</a:t>
            </a:fld>
            <a:endParaRPr lang="en-IN"/>
          </a:p>
        </p:txBody>
      </p:sp>
      <p:sp>
        <p:nvSpPr>
          <p:cNvPr id="3" name="Footer Placeholder 2"/>
          <p:cNvSpPr>
            <a:spLocks noGrp="1"/>
          </p:cNvSpPr>
          <p:nvPr>
            <p:ph type="ftr" sz="quarter" idx="11"/>
          </p:nvPr>
        </p:nvSpPr>
        <p:spPr/>
        <p:txBody>
          <a:bodyPr/>
          <a:lstStyle/>
          <a:p>
            <a:r>
              <a:rPr lang="en-US"/>
              <a:t>Name of Author, Organization, Country</a:t>
            </a:r>
            <a:endParaRPr lang="en-IN"/>
          </a:p>
        </p:txBody>
      </p:sp>
      <p:sp>
        <p:nvSpPr>
          <p:cNvPr id="4" name="Slide Number Placeholder 3"/>
          <p:cNvSpPr>
            <a:spLocks noGrp="1"/>
          </p:cNvSpPr>
          <p:nvPr>
            <p:ph type="sldNum" sz="quarter" idx="12"/>
          </p:nvPr>
        </p:nvSpPr>
        <p:spPr/>
        <p:txBody>
          <a:bodyPr/>
          <a:lstStyle/>
          <a:p>
            <a:fld id="{332AB3C6-D06C-4F79-982A-7E2D2BE28207}" type="slidenum">
              <a:rPr lang="en-IN" smtClean="0"/>
              <a:t>‹#›</a:t>
            </a:fld>
            <a:endParaRPr lang="en-IN"/>
          </a:p>
        </p:txBody>
      </p:sp>
    </p:spTree>
    <p:extLst>
      <p:ext uri="{BB962C8B-B14F-4D97-AF65-F5344CB8AC3E}">
        <p14:creationId xmlns:p14="http://schemas.microsoft.com/office/powerpoint/2010/main" val="1646763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410A370-F392-4E17-9394-D35F3545B347}" type="datetime1">
              <a:rPr lang="en-IN" smtClean="0"/>
              <a:t>26-02-2025</a:t>
            </a:fld>
            <a:endParaRPr lang="en-IN"/>
          </a:p>
        </p:txBody>
      </p:sp>
      <p:sp>
        <p:nvSpPr>
          <p:cNvPr id="6" name="Footer Placeholder 5"/>
          <p:cNvSpPr>
            <a:spLocks noGrp="1"/>
          </p:cNvSpPr>
          <p:nvPr>
            <p:ph type="ftr" sz="quarter" idx="11"/>
          </p:nvPr>
        </p:nvSpPr>
        <p:spPr/>
        <p:txBody>
          <a:bodyPr/>
          <a:lstStyle/>
          <a:p>
            <a:r>
              <a:rPr lang="en-US"/>
              <a:t>Name of Author, Organization, Country</a:t>
            </a:r>
            <a:endParaRPr lang="en-IN"/>
          </a:p>
        </p:txBody>
      </p:sp>
      <p:sp>
        <p:nvSpPr>
          <p:cNvPr id="7" name="Slide Number Placeholder 6"/>
          <p:cNvSpPr>
            <a:spLocks noGrp="1"/>
          </p:cNvSpPr>
          <p:nvPr>
            <p:ph type="sldNum" sz="quarter" idx="12"/>
          </p:nvPr>
        </p:nvSpPr>
        <p:spPr/>
        <p:txBody>
          <a:bodyPr/>
          <a:lstStyle/>
          <a:p>
            <a:fld id="{332AB3C6-D06C-4F79-982A-7E2D2BE28207}" type="slidenum">
              <a:rPr lang="en-IN" smtClean="0"/>
              <a:t>‹#›</a:t>
            </a:fld>
            <a:endParaRPr lang="en-IN"/>
          </a:p>
        </p:txBody>
      </p:sp>
    </p:spTree>
    <p:extLst>
      <p:ext uri="{BB962C8B-B14F-4D97-AF65-F5344CB8AC3E}">
        <p14:creationId xmlns:p14="http://schemas.microsoft.com/office/powerpoint/2010/main" val="3105908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1E7034-5FB8-4966-9ACB-E598F3E1C516}" type="datetime1">
              <a:rPr lang="en-IN" smtClean="0"/>
              <a:t>26-02-2025</a:t>
            </a:fld>
            <a:endParaRPr lang="en-IN"/>
          </a:p>
        </p:txBody>
      </p:sp>
      <p:sp>
        <p:nvSpPr>
          <p:cNvPr id="6" name="Footer Placeholder 5"/>
          <p:cNvSpPr>
            <a:spLocks noGrp="1"/>
          </p:cNvSpPr>
          <p:nvPr>
            <p:ph type="ftr" sz="quarter" idx="11"/>
          </p:nvPr>
        </p:nvSpPr>
        <p:spPr/>
        <p:txBody>
          <a:bodyPr/>
          <a:lstStyle/>
          <a:p>
            <a:r>
              <a:rPr lang="en-US"/>
              <a:t>Name of Author, Organization, Country</a:t>
            </a:r>
            <a:endParaRPr lang="en-IN"/>
          </a:p>
        </p:txBody>
      </p:sp>
      <p:sp>
        <p:nvSpPr>
          <p:cNvPr id="7" name="Slide Number Placeholder 6"/>
          <p:cNvSpPr>
            <a:spLocks noGrp="1"/>
          </p:cNvSpPr>
          <p:nvPr>
            <p:ph type="sldNum" sz="quarter" idx="12"/>
          </p:nvPr>
        </p:nvSpPr>
        <p:spPr/>
        <p:txBody>
          <a:bodyPr/>
          <a:lstStyle/>
          <a:p>
            <a:fld id="{332AB3C6-D06C-4F79-982A-7E2D2BE28207}" type="slidenum">
              <a:rPr lang="en-IN" smtClean="0"/>
              <a:t>‹#›</a:t>
            </a:fld>
            <a:endParaRPr lang="en-IN"/>
          </a:p>
        </p:txBody>
      </p:sp>
    </p:spTree>
    <p:extLst>
      <p:ext uri="{BB962C8B-B14F-4D97-AF65-F5344CB8AC3E}">
        <p14:creationId xmlns:p14="http://schemas.microsoft.com/office/powerpoint/2010/main" val="1869108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53FA41-69B6-4F81-B16C-C0734FDD00AF}" type="datetime1">
              <a:rPr lang="en-IN" smtClean="0"/>
              <a:t>26-02-2025</a:t>
            </a:fld>
            <a:endParaRPr lang="en-IN"/>
          </a:p>
        </p:txBody>
      </p:sp>
      <p:sp>
        <p:nvSpPr>
          <p:cNvPr id="5" name="Footer Placeholder 4"/>
          <p:cNvSpPr>
            <a:spLocks noGrp="1"/>
          </p:cNvSpPr>
          <p:nvPr>
            <p:ph type="ftr" sz="quarter" idx="11"/>
          </p:nvPr>
        </p:nvSpPr>
        <p:spPr/>
        <p:txBody>
          <a:bodyPr/>
          <a:lstStyle/>
          <a:p>
            <a:r>
              <a:rPr lang="en-US"/>
              <a:t>Name of Author, Organization, Country</a:t>
            </a:r>
            <a:endParaRPr lang="en-IN"/>
          </a:p>
        </p:txBody>
      </p:sp>
      <p:sp>
        <p:nvSpPr>
          <p:cNvPr id="6" name="Slide Number Placeholder 5"/>
          <p:cNvSpPr>
            <a:spLocks noGrp="1"/>
          </p:cNvSpPr>
          <p:nvPr>
            <p:ph type="sldNum" sz="quarter" idx="12"/>
          </p:nvPr>
        </p:nvSpPr>
        <p:spPr/>
        <p:txBody>
          <a:bodyPr/>
          <a:lstStyle/>
          <a:p>
            <a:fld id="{332AB3C6-D06C-4F79-982A-7E2D2BE28207}" type="slidenum">
              <a:rPr lang="en-IN" smtClean="0"/>
              <a:t>‹#›</a:t>
            </a:fld>
            <a:endParaRPr lang="en-IN"/>
          </a:p>
        </p:txBody>
      </p:sp>
    </p:spTree>
    <p:extLst>
      <p:ext uri="{BB962C8B-B14F-4D97-AF65-F5344CB8AC3E}">
        <p14:creationId xmlns:p14="http://schemas.microsoft.com/office/powerpoint/2010/main" val="3294960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BA18F25-EF9B-4227-8664-5831F5ED9AA6}" type="datetime1">
              <a:rPr lang="en-IN" smtClean="0"/>
              <a:t>26-02-2025</a:t>
            </a:fld>
            <a:endParaRPr lang="en-IN"/>
          </a:p>
        </p:txBody>
      </p:sp>
      <p:sp>
        <p:nvSpPr>
          <p:cNvPr id="5" name="Footer Placeholder 4"/>
          <p:cNvSpPr>
            <a:spLocks noGrp="1"/>
          </p:cNvSpPr>
          <p:nvPr>
            <p:ph type="ftr" sz="quarter" idx="11"/>
          </p:nvPr>
        </p:nvSpPr>
        <p:spPr/>
        <p:txBody>
          <a:bodyPr/>
          <a:lstStyle/>
          <a:p>
            <a:r>
              <a:rPr lang="en-US"/>
              <a:t>Name of Author, Organization, Country</a:t>
            </a:r>
            <a:endParaRPr lang="en-IN"/>
          </a:p>
        </p:txBody>
      </p:sp>
      <p:sp>
        <p:nvSpPr>
          <p:cNvPr id="6" name="Slide Number Placeholder 5"/>
          <p:cNvSpPr>
            <a:spLocks noGrp="1"/>
          </p:cNvSpPr>
          <p:nvPr>
            <p:ph type="sldNum" sz="quarter" idx="12"/>
          </p:nvPr>
        </p:nvSpPr>
        <p:spPr/>
        <p:txBody>
          <a:bodyPr/>
          <a:lstStyle/>
          <a:p>
            <a:fld id="{332AB3C6-D06C-4F79-982A-7E2D2BE28207}" type="slidenum">
              <a:rPr lang="en-IN" smtClean="0"/>
              <a:t>‹#›</a:t>
            </a:fld>
            <a:endParaRPr lang="en-IN"/>
          </a:p>
        </p:txBody>
      </p:sp>
    </p:spTree>
    <p:extLst>
      <p:ext uri="{BB962C8B-B14F-4D97-AF65-F5344CB8AC3E}">
        <p14:creationId xmlns:p14="http://schemas.microsoft.com/office/powerpoint/2010/main" val="171664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19E59C-5BB8-4B98-97B5-0F08CCF3036B}" type="datetime1">
              <a:rPr lang="en-IN" smtClean="0"/>
              <a:t>26-02-2025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Name of Author, Organization, Country</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2AB3C6-D06C-4F79-982A-7E2D2BE28207}" type="slidenum">
              <a:rPr lang="en-IN" smtClean="0"/>
              <a:t>‹#›</a:t>
            </a:fld>
            <a:endParaRPr lang="en-IN"/>
          </a:p>
        </p:txBody>
      </p:sp>
    </p:spTree>
    <p:extLst>
      <p:ext uri="{BB962C8B-B14F-4D97-AF65-F5344CB8AC3E}">
        <p14:creationId xmlns:p14="http://schemas.microsoft.com/office/powerpoint/2010/main" val="994619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70" y="1704513"/>
            <a:ext cx="12192000" cy="4770931"/>
          </a:xfrm>
        </p:spPr>
        <p:txBody>
          <a:bodyPr>
            <a:normAutofit/>
          </a:bodyPr>
          <a:lstStyle/>
          <a:p>
            <a:pPr marL="0" indent="0" algn="ctr">
              <a:buNone/>
            </a:pPr>
            <a:endParaRPr lang="en-US" b="1" dirty="0">
              <a:solidFill>
                <a:srgbClr val="002060"/>
              </a:solidFill>
              <a:latin typeface="Times New Roman" panose="02020603050405020304" pitchFamily="18" charset="0"/>
              <a:cs typeface="Times New Roman" panose="02020603050405020304" pitchFamily="18" charset="0"/>
            </a:endParaRPr>
          </a:p>
          <a:p>
            <a:pPr marL="0" indent="0" algn="ctr">
              <a:buNone/>
            </a:pPr>
            <a:r>
              <a:rPr lang="en-US" sz="2800" b="1" dirty="0">
                <a:latin typeface="Times New Roman"/>
                <a:ea typeface="Times New Roman"/>
                <a:cs typeface="Times New Roman"/>
                <a:sym typeface="Times New Roman"/>
              </a:rPr>
              <a:t>Retinal Disease Detection and Classification Using Convolutional Neural Networks and Transfer Learning</a:t>
            </a:r>
            <a:endParaRPr lang="en-US" b="1" dirty="0">
              <a:latin typeface="Times New Roman" panose="02020603050405020304" pitchFamily="18" charset="0"/>
              <a:cs typeface="Times New Roman" panose="02020603050405020304" pitchFamily="18" charset="0"/>
            </a:endParaRPr>
          </a:p>
          <a:p>
            <a:pPr marL="0" indent="0" algn="ctr">
              <a:buNone/>
            </a:pPr>
            <a:r>
              <a:rPr lang="en-IN" sz="1900" dirty="0">
                <a:effectLst/>
                <a:latin typeface="Times New Roman" panose="02020603050405020304" pitchFamily="18" charset="0"/>
                <a:ea typeface="Times New Roman" panose="02020603050405020304" pitchFamily="18" charset="0"/>
              </a:rPr>
              <a:t>Aditya Agarwal</a:t>
            </a:r>
            <a:r>
              <a:rPr lang="en-IN" sz="1900" baseline="30000" dirty="0">
                <a:effectLst/>
                <a:latin typeface="Times New Roman" panose="02020603050405020304" pitchFamily="18" charset="0"/>
                <a:ea typeface="Times New Roman" panose="02020603050405020304" pitchFamily="18" charset="0"/>
              </a:rPr>
              <a:t>1</a:t>
            </a:r>
            <a:r>
              <a:rPr lang="en-IN" sz="190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Rohan Gupta1, Abhinav Panwar</a:t>
            </a:r>
            <a:r>
              <a:rPr lang="en-US" sz="1900" baseline="30000" dirty="0">
                <a:effectLst/>
                <a:latin typeface="Times New Roman" panose="02020603050405020304" pitchFamily="18" charset="0"/>
                <a:ea typeface="Times New Roman" panose="02020603050405020304" pitchFamily="18" charset="0"/>
              </a:rPr>
              <a:t>1</a:t>
            </a:r>
            <a:r>
              <a:rPr lang="en-US" sz="1900" dirty="0">
                <a:effectLst/>
                <a:latin typeface="Times New Roman" panose="02020603050405020304" pitchFamily="18" charset="0"/>
                <a:ea typeface="Times New Roman" panose="02020603050405020304" pitchFamily="18" charset="0"/>
              </a:rPr>
              <a:t>, R. Loganathan</a:t>
            </a:r>
            <a:r>
              <a:rPr lang="en-US" sz="1900" baseline="30000" dirty="0">
                <a:effectLst/>
                <a:latin typeface="Times New Roman" panose="02020603050405020304" pitchFamily="18" charset="0"/>
                <a:ea typeface="Times New Roman" panose="02020603050405020304" pitchFamily="18" charset="0"/>
              </a:rPr>
              <a:t>1</a:t>
            </a:r>
            <a:r>
              <a:rPr lang="en-US" sz="1900" dirty="0">
                <a:effectLst/>
                <a:latin typeface="Times New Roman" panose="02020603050405020304" pitchFamily="18" charset="0"/>
                <a:ea typeface="Times New Roman" panose="02020603050405020304" pitchFamily="18" charset="0"/>
              </a:rPr>
              <a:t>, S. Latha</a:t>
            </a:r>
            <a:r>
              <a:rPr lang="en-US" sz="1900" baseline="30000" dirty="0">
                <a:effectLst/>
                <a:latin typeface="Times New Roman" panose="02020603050405020304" pitchFamily="18" charset="0"/>
                <a:ea typeface="Times New Roman" panose="02020603050405020304" pitchFamily="18" charset="0"/>
              </a:rPr>
              <a:t>1,*</a:t>
            </a:r>
            <a:r>
              <a:rPr lang="en-US" sz="1900" dirty="0">
                <a:effectLst/>
                <a:latin typeface="Times New Roman" panose="02020603050405020304" pitchFamily="18" charset="0"/>
                <a:ea typeface="Times New Roman" panose="02020603050405020304" pitchFamily="18" charset="0"/>
              </a:rPr>
              <a:t>, P. Muthu</a:t>
            </a:r>
            <a:r>
              <a:rPr lang="en-US" sz="1900" baseline="30000" dirty="0">
                <a:effectLst/>
                <a:latin typeface="Times New Roman" panose="02020603050405020304" pitchFamily="18" charset="0"/>
                <a:ea typeface="Times New Roman" panose="02020603050405020304" pitchFamily="18" charset="0"/>
              </a:rPr>
              <a:t>2</a:t>
            </a:r>
            <a:r>
              <a:rPr lang="en-US" sz="1900" dirty="0">
                <a:effectLst/>
                <a:latin typeface="Times New Roman" panose="02020603050405020304" pitchFamily="18" charset="0"/>
                <a:ea typeface="Times New Roman" panose="02020603050405020304" pitchFamily="18" charset="0"/>
              </a:rPr>
              <a:t>, </a:t>
            </a:r>
            <a:r>
              <a:rPr lang="en-US" sz="1900" dirty="0" err="1">
                <a:effectLst/>
                <a:latin typeface="Times New Roman" panose="02020603050405020304" pitchFamily="18" charset="0"/>
                <a:ea typeface="Times New Roman" panose="02020603050405020304" pitchFamily="18" charset="0"/>
              </a:rPr>
              <a:t>Samiappan</a:t>
            </a:r>
            <a:r>
              <a:rPr lang="en-US" sz="1900" dirty="0">
                <a:effectLst/>
                <a:latin typeface="Times New Roman" panose="02020603050405020304" pitchFamily="18" charset="0"/>
                <a:ea typeface="Times New Roman" panose="02020603050405020304" pitchFamily="18" charset="0"/>
              </a:rPr>
              <a:t> Dhanalakshmi</a:t>
            </a:r>
            <a:r>
              <a:rPr lang="en-US" sz="1900" baseline="30000" dirty="0">
                <a:effectLst/>
                <a:latin typeface="Times New Roman" panose="02020603050405020304" pitchFamily="18" charset="0"/>
                <a:ea typeface="Times New Roman" panose="02020603050405020304" pitchFamily="18" charset="0"/>
              </a:rPr>
              <a:t>1</a:t>
            </a:r>
            <a:endParaRPr lang="en-IN" sz="1900" dirty="0">
              <a:effectLst/>
              <a:latin typeface="Times New Roman" panose="02020603050405020304" pitchFamily="18" charset="0"/>
              <a:ea typeface="Times New Roman" panose="02020603050405020304" pitchFamily="18" charset="0"/>
            </a:endParaRPr>
          </a:p>
          <a:p>
            <a:pPr marL="0" indent="0" algn="ctr">
              <a:buNone/>
            </a:pPr>
            <a:endParaRPr lang="en-US" sz="2000" b="1" baseline="30000" dirty="0">
              <a:latin typeface="Times New Roman" panose="02020603050405020304" pitchFamily="18" charset="0"/>
              <a:cs typeface="Times New Roman" panose="02020603050405020304" pitchFamily="18" charset="0"/>
            </a:endParaRPr>
          </a:p>
          <a:p>
            <a:pPr marL="0" indent="0" algn="ctr">
              <a:buNone/>
            </a:pPr>
            <a:br>
              <a:rPr lang="en-US" sz="2000" b="1" baseline="30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Presenting Author: Aditya Agarwal, Abhinav Panwar</a:t>
            </a:r>
          </a:p>
          <a:p>
            <a:pPr marL="0" indent="0" algn="ctr">
              <a:buNone/>
            </a:pPr>
            <a:r>
              <a:rPr lang="en-US" sz="2200" b="1" dirty="0">
                <a:solidFill>
                  <a:schemeClr val="dk1"/>
                </a:solidFill>
                <a:latin typeface="Times New Roman" panose="02020603050405020304" pitchFamily="18" charset="0"/>
                <a:ea typeface="Calibri"/>
                <a:cs typeface="Times New Roman" panose="02020603050405020304" pitchFamily="18" charset="0"/>
                <a:sym typeface="Calibri"/>
              </a:rPr>
              <a:t>Department of Electronic and Communication Engineering, S.R.M Institute of Science and Technology</a:t>
            </a:r>
          </a:p>
          <a:p>
            <a:pPr marL="0" indent="0" algn="ctr">
              <a:buNone/>
            </a:pPr>
            <a:endParaRPr lang="en-US" sz="2000" b="1" dirty="0">
              <a:latin typeface="Times New Roman" panose="02020603050405020304" pitchFamily="18" charset="0"/>
              <a:cs typeface="Times New Roman" panose="02020603050405020304" pitchFamily="18" charset="0"/>
            </a:endParaRPr>
          </a:p>
          <a:p>
            <a:pPr marL="0" indent="0" algn="ctr">
              <a:buNone/>
            </a:pPr>
            <a:r>
              <a:rPr lang="en-US" sz="2000" b="1" dirty="0">
                <a:latin typeface="Times New Roman" panose="02020603050405020304" pitchFamily="18" charset="0"/>
                <a:cs typeface="Times New Roman" panose="02020603050405020304" pitchFamily="18" charset="0"/>
              </a:rPr>
              <a:t>Submission ID: 338</a:t>
            </a:r>
          </a:p>
          <a:p>
            <a:pPr marL="0" indent="0" algn="ctr">
              <a:buNone/>
            </a:pPr>
            <a:r>
              <a:rPr lang="en-US" sz="2000" b="1" dirty="0">
                <a:latin typeface="Times New Roman" panose="02020603050405020304" pitchFamily="18" charset="0"/>
                <a:cs typeface="Times New Roman" panose="02020603050405020304" pitchFamily="18" charset="0"/>
              </a:rPr>
              <a:t>Track 1: 26-Feb-2025 </a:t>
            </a:r>
          </a:p>
        </p:txBody>
      </p:sp>
      <p:pic>
        <p:nvPicPr>
          <p:cNvPr id="9" name="Picture 8">
            <a:extLst>
              <a:ext uri="{FF2B5EF4-FFF2-40B4-BE49-F238E27FC236}">
                <a16:creationId xmlns:a16="http://schemas.microsoft.com/office/drawing/2014/main" id="{30FD1A3D-F78E-0A6C-DD4F-B83824F463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4282" y="0"/>
            <a:ext cx="3058230" cy="1287801"/>
          </a:xfrm>
          <a:prstGeom prst="rect">
            <a:avLst/>
          </a:prstGeom>
        </p:spPr>
      </p:pic>
      <p:sp>
        <p:nvSpPr>
          <p:cNvPr id="10" name="TextBox 9">
            <a:extLst>
              <a:ext uri="{FF2B5EF4-FFF2-40B4-BE49-F238E27FC236}">
                <a16:creationId xmlns:a16="http://schemas.microsoft.com/office/drawing/2014/main" id="{FD42F862-F6E1-1AB6-CBC1-525BF901962B}"/>
              </a:ext>
            </a:extLst>
          </p:cNvPr>
          <p:cNvSpPr txBox="1"/>
          <p:nvPr/>
        </p:nvSpPr>
        <p:spPr>
          <a:xfrm>
            <a:off x="3124824" y="93527"/>
            <a:ext cx="8305176" cy="1477328"/>
          </a:xfrm>
          <a:prstGeom prst="rect">
            <a:avLst/>
          </a:prstGeom>
          <a:noFill/>
        </p:spPr>
        <p:txBody>
          <a:bodyPr wrap="square" rtlCol="0">
            <a:spAutoFit/>
          </a:bodyPr>
          <a:lstStyle/>
          <a:p>
            <a:pPr algn="ctr" rtl="0"/>
            <a:r>
              <a:rPr lang="en-US" sz="1800" b="1" i="0" dirty="0">
                <a:solidFill>
                  <a:srgbClr val="212121"/>
                </a:solidFill>
                <a:effectLst/>
                <a:latin typeface="Lato"/>
              </a:rPr>
              <a:t>International Conference on Advanced Research in Electronics and Communication Systems </a:t>
            </a:r>
            <a:endParaRPr lang="en-US" sz="1800" b="0" i="0" dirty="0">
              <a:solidFill>
                <a:srgbClr val="212121"/>
              </a:solidFill>
              <a:effectLst/>
              <a:latin typeface="Lato"/>
            </a:endParaRPr>
          </a:p>
          <a:p>
            <a:pPr algn="ctr" rtl="0"/>
            <a:r>
              <a:rPr lang="en-US" sz="1800" b="0" i="0" dirty="0">
                <a:solidFill>
                  <a:srgbClr val="212121"/>
                </a:solidFill>
                <a:effectLst/>
                <a:latin typeface="Lato"/>
              </a:rPr>
              <a:t>(</a:t>
            </a:r>
            <a:r>
              <a:rPr lang="en-US" sz="1800" b="1" i="1" dirty="0">
                <a:solidFill>
                  <a:srgbClr val="212121"/>
                </a:solidFill>
                <a:effectLst/>
                <a:latin typeface="Lato"/>
              </a:rPr>
              <a:t>ICARECS-2025</a:t>
            </a:r>
            <a:r>
              <a:rPr lang="en-US" sz="1800" b="0" i="0" dirty="0">
                <a:solidFill>
                  <a:srgbClr val="212121"/>
                </a:solidFill>
                <a:effectLst/>
                <a:latin typeface="Lato"/>
              </a:rPr>
              <a:t>) </a:t>
            </a:r>
          </a:p>
          <a:p>
            <a:pPr algn="ctr" rtl="0"/>
            <a:r>
              <a:rPr lang="en-US" sz="1600" i="0" dirty="0">
                <a:solidFill>
                  <a:srgbClr val="212121"/>
                </a:solidFill>
                <a:effectLst/>
                <a:latin typeface="Lato"/>
              </a:rPr>
              <a:t>26th &amp; 27th February 2025</a:t>
            </a:r>
          </a:p>
          <a:p>
            <a:endParaRPr lang="en-US" dirty="0"/>
          </a:p>
        </p:txBody>
      </p:sp>
    </p:spTree>
    <p:extLst>
      <p:ext uri="{BB962C8B-B14F-4D97-AF65-F5344CB8AC3E}">
        <p14:creationId xmlns:p14="http://schemas.microsoft.com/office/powerpoint/2010/main" val="788809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
            <a:ext cx="12192001" cy="900753"/>
          </a:xfrm>
          <a:solidFill>
            <a:schemeClr val="bg1"/>
          </a:solidFill>
          <a:ln>
            <a:solidFill>
              <a:srgbClr val="CC3300"/>
            </a:solidFill>
          </a:ln>
        </p:spPr>
        <p:txBody>
          <a:bodyPr>
            <a:normAutofit fontScale="90000"/>
          </a:bodyPr>
          <a:lstStyle/>
          <a:p>
            <a:br>
              <a:rPr lang="en-US" sz="1800" b="1" dirty="0">
                <a:latin typeface="Times New Roman"/>
                <a:ea typeface="Times New Roman"/>
                <a:cs typeface="Times New Roman"/>
                <a:sym typeface="Times New Roman"/>
              </a:rPr>
            </a:br>
            <a:br>
              <a:rPr lang="en-US" sz="1800" b="1" dirty="0">
                <a:latin typeface="Times New Roman"/>
                <a:ea typeface="Times New Roman"/>
                <a:cs typeface="Times New Roman"/>
                <a:sym typeface="Times New Roman"/>
              </a:rPr>
            </a:br>
            <a:br>
              <a:rPr lang="en-US" sz="1800" b="1" dirty="0">
                <a:latin typeface="Times New Roman"/>
                <a:ea typeface="Times New Roman"/>
                <a:cs typeface="Times New Roman"/>
                <a:sym typeface="Times New Roman"/>
              </a:rPr>
            </a:br>
            <a:br>
              <a:rPr lang="en-US" sz="1800" b="1" dirty="0">
                <a:latin typeface="Times New Roman"/>
                <a:ea typeface="Times New Roman"/>
                <a:cs typeface="Times New Roman"/>
                <a:sym typeface="Times New Roman"/>
              </a:rPr>
            </a:br>
            <a:br>
              <a:rPr lang="en-US" sz="1800" b="1" dirty="0">
                <a:latin typeface="Times New Roman"/>
                <a:ea typeface="Times New Roman"/>
                <a:cs typeface="Times New Roman"/>
                <a:sym typeface="Times New Roman"/>
              </a:rPr>
            </a:br>
            <a:br>
              <a:rPr lang="en-US" sz="1800" b="1" dirty="0">
                <a:latin typeface="Times New Roman"/>
                <a:ea typeface="Times New Roman"/>
                <a:cs typeface="Times New Roman"/>
                <a:sym typeface="Times New Roman"/>
              </a:rPr>
            </a:br>
            <a:br>
              <a:rPr lang="en-US" sz="1800" b="1" dirty="0">
                <a:latin typeface="Times New Roman"/>
                <a:ea typeface="Times New Roman"/>
                <a:cs typeface="Times New Roman"/>
                <a:sym typeface="Times New Roman"/>
              </a:rPr>
            </a:br>
            <a:br>
              <a:rPr lang="en-US" sz="1800" b="1" dirty="0">
                <a:latin typeface="Times New Roman"/>
                <a:ea typeface="Times New Roman"/>
                <a:cs typeface="Times New Roman"/>
                <a:sym typeface="Times New Roman"/>
              </a:rPr>
            </a:br>
            <a:br>
              <a:rPr lang="en-US" sz="1800" b="1" dirty="0">
                <a:latin typeface="Times New Roman"/>
                <a:ea typeface="Times New Roman"/>
                <a:cs typeface="Times New Roman"/>
                <a:sym typeface="Times New Roman"/>
              </a:rPr>
            </a:br>
            <a:br>
              <a:rPr lang="en-US" sz="1800" b="1" dirty="0">
                <a:latin typeface="Times New Roman"/>
                <a:ea typeface="Times New Roman"/>
                <a:cs typeface="Times New Roman"/>
                <a:sym typeface="Times New Roman"/>
              </a:rPr>
            </a:br>
            <a:r>
              <a:rPr lang="en-US" sz="1800" b="1" dirty="0">
                <a:latin typeface="Times New Roman"/>
                <a:ea typeface="Times New Roman"/>
                <a:cs typeface="Times New Roman"/>
                <a:sym typeface="Times New Roman"/>
              </a:rPr>
              <a:t>Retinal Disease Detection and Classification Using Convolutional Neural Networks and </a:t>
            </a:r>
            <a:br>
              <a:rPr lang="en-US" sz="1800" b="1" dirty="0">
                <a:latin typeface="Times New Roman"/>
                <a:ea typeface="Times New Roman"/>
                <a:cs typeface="Times New Roman"/>
                <a:sym typeface="Times New Roman"/>
              </a:rPr>
            </a:br>
            <a:r>
              <a:rPr lang="en-US" sz="1800" b="1" dirty="0">
                <a:latin typeface="Times New Roman"/>
                <a:ea typeface="Times New Roman"/>
                <a:cs typeface="Times New Roman"/>
                <a:sym typeface="Times New Roman"/>
              </a:rPr>
              <a:t>Transfer Learning</a:t>
            </a:r>
            <a:br>
              <a:rPr lang="en-US" sz="800" b="1" dirty="0">
                <a:latin typeface="Times New Roman" panose="02020603050405020304" pitchFamily="18" charset="0"/>
                <a:cs typeface="Times New Roman" panose="02020603050405020304" pitchFamily="18" charset="0"/>
              </a:rPr>
            </a:br>
            <a:br>
              <a:rPr lang="en-US" sz="16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Paper ID:-338</a:t>
            </a:r>
            <a:endParaRPr lang="en-IN" sz="2000" dirty="0">
              <a:latin typeface="Times New Roman" panose="02020603050405020304" pitchFamily="18" charset="0"/>
              <a:cs typeface="Times New Roman" panose="02020603050405020304" pitchFamily="18" charset="0"/>
            </a:endParaRPr>
          </a:p>
        </p:txBody>
      </p:sp>
      <p:sp>
        <p:nvSpPr>
          <p:cNvPr id="12" name="Rectangle 11"/>
          <p:cNvSpPr/>
          <p:nvPr/>
        </p:nvSpPr>
        <p:spPr>
          <a:xfrm>
            <a:off x="-1" y="6045693"/>
            <a:ext cx="12191999" cy="8123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b="1" i="1" dirty="0">
                <a:solidFill>
                  <a:srgbClr val="000000"/>
                </a:solidFill>
                <a:latin typeface="Times New Roman" panose="02020603050405020304" pitchFamily="18" charset="0"/>
              </a:rPr>
              <a:t>    </a:t>
            </a:r>
            <a:r>
              <a:rPr lang="en-US" sz="1800" b="1" i="0" dirty="0">
                <a:solidFill>
                  <a:srgbClr val="212121"/>
                </a:solidFill>
                <a:effectLst/>
                <a:latin typeface="Lato"/>
              </a:rPr>
              <a:t>International Conference on Advanced Research in Electronics and Communication Systems </a:t>
            </a:r>
            <a:endParaRPr lang="en-US" sz="1800" b="0" i="0" dirty="0">
              <a:solidFill>
                <a:srgbClr val="212121"/>
              </a:solidFill>
              <a:effectLst/>
              <a:latin typeface="Lato"/>
            </a:endParaRPr>
          </a:p>
          <a:p>
            <a:pPr algn="ctr" rtl="0"/>
            <a:r>
              <a:rPr lang="en-US" sz="1800" b="0" i="0" dirty="0">
                <a:solidFill>
                  <a:srgbClr val="212121"/>
                </a:solidFill>
                <a:effectLst/>
                <a:latin typeface="Lato"/>
              </a:rPr>
              <a:t>(</a:t>
            </a:r>
            <a:r>
              <a:rPr lang="en-US" sz="1800" b="1" i="1" dirty="0">
                <a:solidFill>
                  <a:srgbClr val="212121"/>
                </a:solidFill>
                <a:effectLst/>
                <a:latin typeface="Lato"/>
              </a:rPr>
              <a:t>ICARECS-2025</a:t>
            </a:r>
            <a:r>
              <a:rPr lang="en-US" sz="1800" b="0" i="0" dirty="0">
                <a:solidFill>
                  <a:srgbClr val="212121"/>
                </a:solidFill>
                <a:effectLst/>
                <a:latin typeface="Lato"/>
              </a:rPr>
              <a:t>) </a:t>
            </a:r>
          </a:p>
          <a:p>
            <a:pPr algn="ctr"/>
            <a:r>
              <a:rPr lang="en-US" sz="1600" b="1" i="1" dirty="0">
                <a:solidFill>
                  <a:srgbClr val="FF0000"/>
                </a:solidFill>
                <a:latin typeface="Times New Roman" panose="02020603050405020304" pitchFamily="18" charset="0"/>
              </a:rPr>
              <a:t>(26-27 February, 2025)</a:t>
            </a:r>
            <a:endParaRPr lang="en-IN" sz="1600" b="1" i="1" dirty="0">
              <a:solidFill>
                <a:srgbClr val="FF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E8CA1451-7456-D917-D1B7-6C3ABD478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29" y="38912"/>
            <a:ext cx="1967047" cy="828311"/>
          </a:xfrm>
          <a:prstGeom prst="rect">
            <a:avLst/>
          </a:prstGeom>
        </p:spPr>
      </p:pic>
      <p:pic>
        <p:nvPicPr>
          <p:cNvPr id="1026" name="Picture 2">
            <a:extLst>
              <a:ext uri="{FF2B5EF4-FFF2-40B4-BE49-F238E27FC236}">
                <a16:creationId xmlns:a16="http://schemas.microsoft.com/office/drawing/2014/main" id="{0208E776-E087-67F7-C9F4-B76D944E82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2686" y="49533"/>
            <a:ext cx="1293571" cy="8123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CD87F3D-7835-E014-4AEB-1A26B482162E}"/>
              </a:ext>
            </a:extLst>
          </p:cNvPr>
          <p:cNvSpPr txBox="1"/>
          <p:nvPr/>
        </p:nvSpPr>
        <p:spPr>
          <a:xfrm>
            <a:off x="121298" y="1063690"/>
            <a:ext cx="11831216" cy="4519186"/>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Outline of Presentation</a:t>
            </a:r>
          </a:p>
          <a:p>
            <a:pPr algn="ctr"/>
            <a:endParaRPr lang="en-IN" sz="2400" b="1" dirty="0">
              <a:latin typeface="Times New Roman" panose="02020603050405020304" pitchFamily="18" charset="0"/>
              <a:cs typeface="Times New Roman" panose="02020603050405020304" pitchFamily="18" charset="0"/>
            </a:endParaRPr>
          </a:p>
          <a:p>
            <a:pPr marL="228600" lvl="0" indent="-252412" algn="l" rtl="0">
              <a:lnSpc>
                <a:spcPct val="150000"/>
              </a:lnSpc>
              <a:spcBef>
                <a:spcPts val="0"/>
              </a:spcBef>
              <a:spcAft>
                <a:spcPts val="0"/>
              </a:spcAft>
              <a:buClr>
                <a:schemeClr val="dk1"/>
              </a:buClr>
              <a:buSzPts val="2375"/>
              <a:buFont typeface="Times New Roman"/>
              <a:buChar char="⮚"/>
            </a:pPr>
            <a:r>
              <a:rPr lang="en-US" sz="2000" dirty="0">
                <a:latin typeface="Times New Roman"/>
                <a:ea typeface="Times New Roman"/>
                <a:cs typeface="Times New Roman"/>
                <a:sym typeface="Times New Roman"/>
              </a:rPr>
              <a:t>Introduction</a:t>
            </a:r>
          </a:p>
          <a:p>
            <a:pPr marL="228600" lvl="0" indent="-252412" algn="l" rtl="0">
              <a:lnSpc>
                <a:spcPct val="150000"/>
              </a:lnSpc>
              <a:spcBef>
                <a:spcPts val="1000"/>
              </a:spcBef>
              <a:spcAft>
                <a:spcPts val="0"/>
              </a:spcAft>
              <a:buClr>
                <a:schemeClr val="dk1"/>
              </a:buClr>
              <a:buSzPts val="2375"/>
              <a:buFont typeface="Times New Roman"/>
              <a:buChar char="⮚"/>
            </a:pPr>
            <a:r>
              <a:rPr lang="en-US" sz="2000" dirty="0">
                <a:latin typeface="Times New Roman"/>
                <a:ea typeface="Times New Roman"/>
                <a:cs typeface="Times New Roman"/>
                <a:sym typeface="Times New Roman"/>
              </a:rPr>
              <a:t>Motivation &amp;  Objectives </a:t>
            </a:r>
          </a:p>
          <a:p>
            <a:pPr marL="228600" lvl="0" indent="-252412" algn="l" rtl="0">
              <a:lnSpc>
                <a:spcPct val="150000"/>
              </a:lnSpc>
              <a:spcBef>
                <a:spcPts val="1000"/>
              </a:spcBef>
              <a:spcAft>
                <a:spcPts val="0"/>
              </a:spcAft>
              <a:buSzPts val="2375"/>
              <a:buFont typeface="Times New Roman"/>
              <a:buChar char="⮚"/>
            </a:pPr>
            <a:r>
              <a:rPr lang="en-US" sz="2000" dirty="0">
                <a:latin typeface="Times New Roman"/>
                <a:ea typeface="Times New Roman"/>
                <a:cs typeface="Times New Roman"/>
                <a:sym typeface="Times New Roman"/>
              </a:rPr>
              <a:t>Workflow</a:t>
            </a:r>
          </a:p>
          <a:p>
            <a:pPr marL="228600" lvl="0" indent="-265112" algn="l" rtl="0">
              <a:lnSpc>
                <a:spcPct val="150000"/>
              </a:lnSpc>
              <a:spcBef>
                <a:spcPts val="1000"/>
              </a:spcBef>
              <a:spcAft>
                <a:spcPts val="0"/>
              </a:spcAft>
              <a:buSzPts val="2375"/>
              <a:buFont typeface="Times New Roman"/>
              <a:buChar char="⮚"/>
            </a:pPr>
            <a:r>
              <a:rPr lang="en-US" sz="2000" dirty="0">
                <a:latin typeface="Times New Roman"/>
                <a:ea typeface="Times New Roman"/>
                <a:cs typeface="Times New Roman"/>
                <a:sym typeface="Times New Roman"/>
              </a:rPr>
              <a:t>Technology Stack</a:t>
            </a:r>
          </a:p>
          <a:p>
            <a:pPr marL="228600" lvl="0" indent="-265112" algn="l" rtl="0">
              <a:lnSpc>
                <a:spcPct val="150000"/>
              </a:lnSpc>
              <a:spcBef>
                <a:spcPts val="1000"/>
              </a:spcBef>
              <a:spcAft>
                <a:spcPts val="0"/>
              </a:spcAft>
              <a:buSzPts val="2375"/>
              <a:buFont typeface="Times New Roman"/>
              <a:buChar char="⮚"/>
            </a:pPr>
            <a:r>
              <a:rPr lang="en-US" sz="2000" dirty="0">
                <a:latin typeface="Times New Roman"/>
                <a:ea typeface="Times New Roman"/>
                <a:cs typeface="Times New Roman"/>
                <a:sym typeface="Times New Roman"/>
              </a:rPr>
              <a:t>Results</a:t>
            </a:r>
          </a:p>
          <a:p>
            <a:pPr marL="228600" lvl="0" indent="-265112" algn="l" rtl="0">
              <a:lnSpc>
                <a:spcPct val="150000"/>
              </a:lnSpc>
              <a:spcBef>
                <a:spcPts val="1000"/>
              </a:spcBef>
              <a:spcAft>
                <a:spcPts val="0"/>
              </a:spcAft>
              <a:buSzPts val="2375"/>
              <a:buFont typeface="Times New Roman"/>
              <a:buChar char="⮚"/>
            </a:pPr>
            <a:r>
              <a:rPr lang="en-US" sz="2000" dirty="0">
                <a:latin typeface="Times New Roman"/>
                <a:ea typeface="Times New Roman"/>
                <a:cs typeface="Times New Roman"/>
                <a:sym typeface="Times New Roman"/>
              </a:rPr>
              <a:t>References</a:t>
            </a: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964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
            <a:ext cx="12192001" cy="900753"/>
          </a:xfrm>
          <a:solidFill>
            <a:schemeClr val="bg1"/>
          </a:solidFill>
          <a:ln>
            <a:solidFill>
              <a:srgbClr val="CC3300"/>
            </a:solidFill>
          </a:ln>
        </p:spPr>
        <p:txBody>
          <a:bodyPr>
            <a:normAutofit/>
          </a:bodyPr>
          <a:lstStyle/>
          <a:p>
            <a:r>
              <a:rPr lang="en-US" sz="1600" b="1" dirty="0">
                <a:latin typeface="Times New Roman"/>
                <a:ea typeface="Times New Roman"/>
                <a:cs typeface="Times New Roman"/>
                <a:sym typeface="Times New Roman"/>
              </a:rPr>
              <a:t>Retinal Disease Detection and Classification Using Convolutional Neural Networks and </a:t>
            </a:r>
            <a:br>
              <a:rPr lang="en-US" sz="1600" b="1" dirty="0">
                <a:latin typeface="Times New Roman"/>
                <a:ea typeface="Times New Roman"/>
                <a:cs typeface="Times New Roman"/>
                <a:sym typeface="Times New Roman"/>
              </a:rPr>
            </a:br>
            <a:r>
              <a:rPr lang="en-US" sz="1600" b="1" dirty="0">
                <a:latin typeface="Times New Roman"/>
                <a:ea typeface="Times New Roman"/>
                <a:cs typeface="Times New Roman"/>
                <a:sym typeface="Times New Roman"/>
              </a:rPr>
              <a:t>Transfer Learning</a:t>
            </a:r>
            <a:br>
              <a:rPr lang="en-US" sz="16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Paper ID:- 338</a:t>
            </a:r>
            <a:endParaRPr lang="en-IN" sz="2000" dirty="0">
              <a:latin typeface="Times New Roman" panose="02020603050405020304" pitchFamily="18" charset="0"/>
              <a:cs typeface="Times New Roman" panose="02020603050405020304" pitchFamily="18" charset="0"/>
            </a:endParaRPr>
          </a:p>
        </p:txBody>
      </p:sp>
      <p:sp>
        <p:nvSpPr>
          <p:cNvPr id="12" name="Rectangle 11"/>
          <p:cNvSpPr/>
          <p:nvPr/>
        </p:nvSpPr>
        <p:spPr>
          <a:xfrm>
            <a:off x="-1" y="6045693"/>
            <a:ext cx="12191999" cy="8123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b="1" i="1" dirty="0">
                <a:solidFill>
                  <a:srgbClr val="000000"/>
                </a:solidFill>
                <a:latin typeface="Times New Roman" panose="02020603050405020304" pitchFamily="18" charset="0"/>
              </a:rPr>
              <a:t>    </a:t>
            </a:r>
            <a:r>
              <a:rPr lang="en-US" sz="1800" b="1" i="0" dirty="0">
                <a:solidFill>
                  <a:srgbClr val="212121"/>
                </a:solidFill>
                <a:effectLst/>
                <a:latin typeface="Lato"/>
              </a:rPr>
              <a:t>International Conference on Advanced Research in Electronics and Communication Systems </a:t>
            </a:r>
            <a:endParaRPr lang="en-US" sz="1800" b="0" i="0" dirty="0">
              <a:solidFill>
                <a:srgbClr val="212121"/>
              </a:solidFill>
              <a:effectLst/>
              <a:latin typeface="Lato"/>
            </a:endParaRPr>
          </a:p>
          <a:p>
            <a:pPr algn="ctr" rtl="0"/>
            <a:r>
              <a:rPr lang="en-US" sz="1800" b="0" i="0" dirty="0">
                <a:solidFill>
                  <a:srgbClr val="212121"/>
                </a:solidFill>
                <a:effectLst/>
                <a:latin typeface="Lato"/>
              </a:rPr>
              <a:t>(</a:t>
            </a:r>
            <a:r>
              <a:rPr lang="en-US" sz="1800" b="1" i="1" dirty="0">
                <a:solidFill>
                  <a:srgbClr val="212121"/>
                </a:solidFill>
                <a:effectLst/>
                <a:latin typeface="Lato"/>
              </a:rPr>
              <a:t>ICARECS-2025</a:t>
            </a:r>
            <a:r>
              <a:rPr lang="en-US" sz="1800" b="0" i="0" dirty="0">
                <a:solidFill>
                  <a:srgbClr val="212121"/>
                </a:solidFill>
                <a:effectLst/>
                <a:latin typeface="Lato"/>
              </a:rPr>
              <a:t>) </a:t>
            </a:r>
          </a:p>
          <a:p>
            <a:pPr algn="ctr"/>
            <a:r>
              <a:rPr lang="en-US" sz="1600" b="1" i="1" dirty="0">
                <a:solidFill>
                  <a:srgbClr val="FF0000"/>
                </a:solidFill>
                <a:latin typeface="Times New Roman" panose="02020603050405020304" pitchFamily="18" charset="0"/>
              </a:rPr>
              <a:t>(26-27 February, 2025)</a:t>
            </a:r>
            <a:endParaRPr lang="en-IN" sz="1600" b="1" i="1" dirty="0">
              <a:solidFill>
                <a:srgbClr val="FF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E8CA1451-7456-D917-D1B7-6C3ABD478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29" y="38912"/>
            <a:ext cx="1967047" cy="828311"/>
          </a:xfrm>
          <a:prstGeom prst="rect">
            <a:avLst/>
          </a:prstGeom>
        </p:spPr>
      </p:pic>
      <p:pic>
        <p:nvPicPr>
          <p:cNvPr id="1026" name="Picture 2">
            <a:extLst>
              <a:ext uri="{FF2B5EF4-FFF2-40B4-BE49-F238E27FC236}">
                <a16:creationId xmlns:a16="http://schemas.microsoft.com/office/drawing/2014/main" id="{0208E776-E087-67F7-C9F4-B76D944E82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2686" y="49533"/>
            <a:ext cx="1293571" cy="8123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D003F48-AF5B-7C7D-3346-A4EF6174CABA}"/>
              </a:ext>
            </a:extLst>
          </p:cNvPr>
          <p:cNvSpPr txBox="1"/>
          <p:nvPr/>
        </p:nvSpPr>
        <p:spPr>
          <a:xfrm>
            <a:off x="101986" y="1063689"/>
            <a:ext cx="11988028" cy="8094524"/>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INTRODUCTION</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focuses on developing an AI-powered system to detect macular abnormalities from  OCT images for early AMD diagnosis.</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AMD affects 8.7% of the global population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early detection crucial.</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OCT analysis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 slow, labor-intensive, and prone to errors.</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models enhance accuracy, efficiency, and accessibility.</a:t>
            </a:r>
          </a:p>
          <a:p>
            <a:pPr marL="342900"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Aims to reduce diagnostic workload and improve patient outcomes. </a:t>
            </a:r>
          </a:p>
          <a:p>
            <a:pPr marL="342900" indent="-342900">
              <a:buFont typeface="Wingdings" panose="05000000000000000000" pitchFamily="2" charset="2"/>
              <a:buChar char="§"/>
            </a:pPr>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
        <p:nvSpPr>
          <p:cNvPr id="10" name="Rectangle 5">
            <a:extLst>
              <a:ext uri="{FF2B5EF4-FFF2-40B4-BE49-F238E27FC236}">
                <a16:creationId xmlns:a16="http://schemas.microsoft.com/office/drawing/2014/main" id="{58812C0D-2EC6-128A-6435-8D6D0FC87AD0}"/>
              </a:ext>
            </a:extLst>
          </p:cNvPr>
          <p:cNvSpPr>
            <a:spLocks noChangeArrowheads="1"/>
          </p:cNvSpPr>
          <p:nvPr/>
        </p:nvSpPr>
        <p:spPr bwMode="auto">
          <a:xfrm>
            <a:off x="457200" y="-3093155"/>
            <a:ext cx="10680700"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3892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
            <a:ext cx="12192001" cy="900753"/>
          </a:xfrm>
          <a:solidFill>
            <a:schemeClr val="bg1"/>
          </a:solidFill>
          <a:ln>
            <a:solidFill>
              <a:srgbClr val="CC3300"/>
            </a:solidFill>
          </a:ln>
        </p:spPr>
        <p:txBody>
          <a:bodyPr>
            <a:normAutofit/>
          </a:bodyPr>
          <a:lstStyle/>
          <a:p>
            <a:r>
              <a:rPr lang="en-US" sz="1600" b="1" dirty="0">
                <a:latin typeface="Times New Roman"/>
                <a:ea typeface="Times New Roman"/>
                <a:cs typeface="Times New Roman"/>
                <a:sym typeface="Times New Roman"/>
              </a:rPr>
              <a:t>Retinal Disease Detection and Classification Using Convolutional Neural Networks and </a:t>
            </a:r>
            <a:br>
              <a:rPr lang="en-US" sz="1600" b="1" dirty="0">
                <a:latin typeface="Times New Roman"/>
                <a:ea typeface="Times New Roman"/>
                <a:cs typeface="Times New Roman"/>
                <a:sym typeface="Times New Roman"/>
              </a:rPr>
            </a:br>
            <a:r>
              <a:rPr lang="en-US" sz="1600" b="1" dirty="0">
                <a:latin typeface="Times New Roman"/>
                <a:ea typeface="Times New Roman"/>
                <a:cs typeface="Times New Roman"/>
                <a:sym typeface="Times New Roman"/>
              </a:rPr>
              <a:t>Transfer Learning</a:t>
            </a:r>
            <a:br>
              <a:rPr lang="en-US" sz="16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Paper ID:-338</a:t>
            </a:r>
            <a:endParaRPr lang="en-IN" sz="2000" dirty="0">
              <a:latin typeface="Times New Roman" panose="02020603050405020304" pitchFamily="18" charset="0"/>
              <a:cs typeface="Times New Roman" panose="02020603050405020304" pitchFamily="18" charset="0"/>
            </a:endParaRPr>
          </a:p>
        </p:txBody>
      </p:sp>
      <p:sp>
        <p:nvSpPr>
          <p:cNvPr id="12" name="Rectangle 11"/>
          <p:cNvSpPr/>
          <p:nvPr/>
        </p:nvSpPr>
        <p:spPr>
          <a:xfrm>
            <a:off x="-1" y="6045693"/>
            <a:ext cx="12191999" cy="8123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b="1" i="1" dirty="0">
                <a:solidFill>
                  <a:srgbClr val="000000"/>
                </a:solidFill>
                <a:latin typeface="Times New Roman" panose="02020603050405020304" pitchFamily="18" charset="0"/>
              </a:rPr>
              <a:t>    </a:t>
            </a:r>
            <a:r>
              <a:rPr lang="en-US" sz="1800" b="1" i="0" dirty="0">
                <a:solidFill>
                  <a:srgbClr val="212121"/>
                </a:solidFill>
                <a:effectLst/>
                <a:latin typeface="Lato"/>
              </a:rPr>
              <a:t>International Conference on Advanced Research in Electronics and Communication Systems </a:t>
            </a:r>
            <a:endParaRPr lang="en-US" sz="1800" b="0" i="0" dirty="0">
              <a:solidFill>
                <a:srgbClr val="212121"/>
              </a:solidFill>
              <a:effectLst/>
              <a:latin typeface="Lato"/>
            </a:endParaRPr>
          </a:p>
          <a:p>
            <a:pPr algn="ctr" rtl="0"/>
            <a:r>
              <a:rPr lang="en-US" sz="1800" b="0" i="0" dirty="0">
                <a:solidFill>
                  <a:srgbClr val="212121"/>
                </a:solidFill>
                <a:effectLst/>
                <a:latin typeface="Lato"/>
              </a:rPr>
              <a:t>(</a:t>
            </a:r>
            <a:r>
              <a:rPr lang="en-US" sz="1800" b="1" i="1" dirty="0">
                <a:solidFill>
                  <a:srgbClr val="212121"/>
                </a:solidFill>
                <a:effectLst/>
                <a:latin typeface="Lato"/>
              </a:rPr>
              <a:t>ICARECS-2025</a:t>
            </a:r>
            <a:r>
              <a:rPr lang="en-US" sz="1800" b="0" i="0" dirty="0">
                <a:solidFill>
                  <a:srgbClr val="212121"/>
                </a:solidFill>
                <a:effectLst/>
                <a:latin typeface="Lato"/>
              </a:rPr>
              <a:t>) </a:t>
            </a:r>
          </a:p>
          <a:p>
            <a:pPr algn="ctr"/>
            <a:r>
              <a:rPr lang="en-US" sz="1600" b="1" i="1" dirty="0">
                <a:solidFill>
                  <a:srgbClr val="FF0000"/>
                </a:solidFill>
                <a:latin typeface="Times New Roman" panose="02020603050405020304" pitchFamily="18" charset="0"/>
              </a:rPr>
              <a:t>(26-27 February, 2025)</a:t>
            </a:r>
            <a:endParaRPr lang="en-IN" sz="1600" b="1" i="1" dirty="0">
              <a:solidFill>
                <a:srgbClr val="FF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E8CA1451-7456-D917-D1B7-6C3ABD478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29" y="38912"/>
            <a:ext cx="1967047" cy="828311"/>
          </a:xfrm>
          <a:prstGeom prst="rect">
            <a:avLst/>
          </a:prstGeom>
        </p:spPr>
      </p:pic>
      <p:pic>
        <p:nvPicPr>
          <p:cNvPr id="1026" name="Picture 2">
            <a:extLst>
              <a:ext uri="{FF2B5EF4-FFF2-40B4-BE49-F238E27FC236}">
                <a16:creationId xmlns:a16="http://schemas.microsoft.com/office/drawing/2014/main" id="{0208E776-E087-67F7-C9F4-B76D944E82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2686" y="49533"/>
            <a:ext cx="1293571" cy="8123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921B3B3-90B0-F593-23F1-E502DF307B39}"/>
              </a:ext>
            </a:extLst>
          </p:cNvPr>
          <p:cNvSpPr txBox="1"/>
          <p:nvPr/>
        </p:nvSpPr>
        <p:spPr>
          <a:xfrm>
            <a:off x="48229" y="1166327"/>
            <a:ext cx="11988028" cy="4686411"/>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MOTIVATION</a:t>
            </a:r>
          </a:p>
          <a:p>
            <a:pPr marL="0" lvl="0" indent="0" algn="just" rtl="0">
              <a:lnSpc>
                <a:spcPct val="115000"/>
              </a:lnSpc>
              <a:spcBef>
                <a:spcPts val="1000"/>
              </a:spcBef>
              <a:spcAft>
                <a:spcPts val="0"/>
              </a:spcAft>
              <a:buNone/>
            </a:pPr>
            <a:endParaRPr lang="en-US" sz="1600" dirty="0">
              <a:latin typeface="Times New Roman" panose="02020603050405020304" pitchFamily="18" charset="0"/>
              <a:ea typeface="Times New Roman"/>
              <a:cs typeface="Times New Roman" panose="02020603050405020304" pitchFamily="18" charset="0"/>
              <a:sym typeface="Times New Roman"/>
            </a:endParaRPr>
          </a:p>
          <a:p>
            <a:pPr marL="457200" lvl="0" indent="-342900" algn="just" rtl="0">
              <a:lnSpc>
                <a:spcPct val="250000"/>
              </a:lnSpc>
              <a:spcBef>
                <a:spcPts val="1000"/>
              </a:spcBef>
              <a:spcAft>
                <a:spcPts val="0"/>
              </a:spcAft>
              <a:buSzPts val="1800"/>
              <a:buFont typeface="Times New Roman"/>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sym typeface="Times New Roman"/>
              </a:rPr>
              <a:t>Automates OCT image classification, reducing manual workload.</a:t>
            </a:r>
          </a:p>
          <a:p>
            <a:pPr marL="457200" lvl="0" indent="-342900" algn="just" rtl="0">
              <a:lnSpc>
                <a:spcPct val="250000"/>
              </a:lnSpc>
              <a:spcBef>
                <a:spcPts val="0"/>
              </a:spcBef>
              <a:spcAft>
                <a:spcPts val="0"/>
              </a:spcAft>
              <a:buSzPts val="1800"/>
              <a:buFont typeface="Times New Roman"/>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sym typeface="Times New Roman"/>
              </a:rPr>
              <a:t>Improves accuracy and consistency in detecting macular abnormalities.</a:t>
            </a:r>
          </a:p>
          <a:p>
            <a:pPr marL="457200" lvl="0" indent="-342900" algn="just" rtl="0">
              <a:lnSpc>
                <a:spcPct val="250000"/>
              </a:lnSpc>
              <a:spcBef>
                <a:spcPts val="0"/>
              </a:spcBef>
              <a:spcAft>
                <a:spcPts val="0"/>
              </a:spcAft>
              <a:buSzPts val="1800"/>
              <a:buFont typeface="Times New Roman"/>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sym typeface="Times New Roman"/>
              </a:rPr>
              <a:t>Addresses the scarcity of labeled medical data through transfer learning.</a:t>
            </a:r>
          </a:p>
          <a:p>
            <a:pPr marL="0" lvl="0" indent="0" algn="just" rtl="0">
              <a:lnSpc>
                <a:spcPct val="115000"/>
              </a:lnSpc>
              <a:spcBef>
                <a:spcPts val="1000"/>
              </a:spcBef>
              <a:spcAft>
                <a:spcPts val="0"/>
              </a:spcAft>
              <a:buNone/>
            </a:pPr>
            <a:endParaRPr lang="en-US" sz="1600" dirty="0">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15000"/>
              </a:lnSpc>
              <a:spcBef>
                <a:spcPts val="1000"/>
              </a:spcBef>
              <a:spcAft>
                <a:spcPts val="0"/>
              </a:spcAft>
              <a:buNone/>
            </a:pPr>
            <a:endParaRPr lang="en-US" sz="1600" dirty="0">
              <a:latin typeface="Times New Roman" panose="02020603050405020304" pitchFamily="18" charset="0"/>
              <a:ea typeface="Times New Roman"/>
              <a:cs typeface="Times New Roman" panose="02020603050405020304" pitchFamily="18" charset="0"/>
              <a:sym typeface="Times New Roman"/>
            </a:endParaRPr>
          </a:p>
          <a:p>
            <a:pPr algn="just"/>
            <a:endParaRPr lang="en-IN" sz="2000" b="1" dirty="0">
              <a:latin typeface="Times New Roman" panose="02020603050405020304" pitchFamily="18" charset="0"/>
              <a:cs typeface="Times New Roman" panose="02020603050405020304" pitchFamily="18" charset="0"/>
            </a:endParaRPr>
          </a:p>
          <a:p>
            <a:pPr algn="just"/>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4203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
            <a:ext cx="12192001" cy="900753"/>
          </a:xfrm>
          <a:solidFill>
            <a:schemeClr val="bg1"/>
          </a:solidFill>
          <a:ln>
            <a:solidFill>
              <a:srgbClr val="CC3300"/>
            </a:solidFill>
          </a:ln>
        </p:spPr>
        <p:txBody>
          <a:bodyPr>
            <a:normAutofit/>
          </a:bodyPr>
          <a:lstStyle/>
          <a:p>
            <a:r>
              <a:rPr lang="en-US" sz="1600" b="1" dirty="0">
                <a:latin typeface="Times New Roman"/>
                <a:ea typeface="Times New Roman"/>
                <a:cs typeface="Times New Roman"/>
                <a:sym typeface="Times New Roman"/>
              </a:rPr>
              <a:t>Retinal Disease Detection and Classification Using Convolutional Neural Networks and </a:t>
            </a:r>
            <a:br>
              <a:rPr lang="en-US" sz="1600" b="1" dirty="0">
                <a:latin typeface="Times New Roman"/>
                <a:ea typeface="Times New Roman"/>
                <a:cs typeface="Times New Roman"/>
                <a:sym typeface="Times New Roman"/>
              </a:rPr>
            </a:br>
            <a:r>
              <a:rPr lang="en-US" sz="1600" b="1" dirty="0">
                <a:latin typeface="Times New Roman"/>
                <a:ea typeface="Times New Roman"/>
                <a:cs typeface="Times New Roman"/>
                <a:sym typeface="Times New Roman"/>
              </a:rPr>
              <a:t>Transfer Learning</a:t>
            </a:r>
            <a:br>
              <a:rPr lang="en-US" sz="16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Paper ID:-338</a:t>
            </a:r>
            <a:endParaRPr lang="en-IN" sz="2000" dirty="0">
              <a:latin typeface="Times New Roman" panose="02020603050405020304" pitchFamily="18" charset="0"/>
              <a:cs typeface="Times New Roman" panose="02020603050405020304" pitchFamily="18" charset="0"/>
            </a:endParaRPr>
          </a:p>
        </p:txBody>
      </p:sp>
      <p:sp>
        <p:nvSpPr>
          <p:cNvPr id="12" name="Rectangle 11"/>
          <p:cNvSpPr/>
          <p:nvPr/>
        </p:nvSpPr>
        <p:spPr>
          <a:xfrm>
            <a:off x="-1" y="6045693"/>
            <a:ext cx="12191999" cy="8123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b="1" i="1" dirty="0">
                <a:solidFill>
                  <a:srgbClr val="000000"/>
                </a:solidFill>
                <a:latin typeface="Times New Roman" panose="02020603050405020304" pitchFamily="18" charset="0"/>
              </a:rPr>
              <a:t>    </a:t>
            </a:r>
            <a:r>
              <a:rPr lang="en-US" sz="1800" b="1" i="0" dirty="0">
                <a:solidFill>
                  <a:srgbClr val="212121"/>
                </a:solidFill>
                <a:effectLst/>
                <a:latin typeface="Lato"/>
              </a:rPr>
              <a:t>International Conference on Advanced Research in Electronics and Communication Systems </a:t>
            </a:r>
            <a:endParaRPr lang="en-US" sz="1800" b="0" i="0" dirty="0">
              <a:solidFill>
                <a:srgbClr val="212121"/>
              </a:solidFill>
              <a:effectLst/>
              <a:latin typeface="Lato"/>
            </a:endParaRPr>
          </a:p>
          <a:p>
            <a:pPr algn="ctr" rtl="0"/>
            <a:r>
              <a:rPr lang="en-US" sz="1800" b="0" i="0" dirty="0">
                <a:solidFill>
                  <a:srgbClr val="212121"/>
                </a:solidFill>
                <a:effectLst/>
                <a:latin typeface="Lato"/>
              </a:rPr>
              <a:t>(</a:t>
            </a:r>
            <a:r>
              <a:rPr lang="en-US" sz="1800" b="1" i="1" dirty="0">
                <a:solidFill>
                  <a:srgbClr val="212121"/>
                </a:solidFill>
                <a:effectLst/>
                <a:latin typeface="Lato"/>
              </a:rPr>
              <a:t>ICARECS-2025</a:t>
            </a:r>
            <a:r>
              <a:rPr lang="en-US" sz="1800" b="0" i="0" dirty="0">
                <a:solidFill>
                  <a:srgbClr val="212121"/>
                </a:solidFill>
                <a:effectLst/>
                <a:latin typeface="Lato"/>
              </a:rPr>
              <a:t>) </a:t>
            </a:r>
          </a:p>
          <a:p>
            <a:pPr algn="ctr"/>
            <a:r>
              <a:rPr lang="en-US" sz="1600" b="1" i="1" dirty="0">
                <a:solidFill>
                  <a:srgbClr val="FF0000"/>
                </a:solidFill>
                <a:latin typeface="Times New Roman" panose="02020603050405020304" pitchFamily="18" charset="0"/>
              </a:rPr>
              <a:t>(26-27 February, 2025)</a:t>
            </a:r>
            <a:endParaRPr lang="en-IN" sz="1600" b="1" i="1" dirty="0">
              <a:solidFill>
                <a:srgbClr val="FF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E8CA1451-7456-D917-D1B7-6C3ABD478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29" y="38912"/>
            <a:ext cx="1967047" cy="828311"/>
          </a:xfrm>
          <a:prstGeom prst="rect">
            <a:avLst/>
          </a:prstGeom>
        </p:spPr>
      </p:pic>
      <p:pic>
        <p:nvPicPr>
          <p:cNvPr id="1026" name="Picture 2">
            <a:extLst>
              <a:ext uri="{FF2B5EF4-FFF2-40B4-BE49-F238E27FC236}">
                <a16:creationId xmlns:a16="http://schemas.microsoft.com/office/drawing/2014/main" id="{0208E776-E087-67F7-C9F4-B76D944E82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2686" y="49533"/>
            <a:ext cx="1293571" cy="8123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DCAE996-4357-B9E6-1680-49B04F4596BB}"/>
              </a:ext>
            </a:extLst>
          </p:cNvPr>
          <p:cNvSpPr txBox="1"/>
          <p:nvPr/>
        </p:nvSpPr>
        <p:spPr>
          <a:xfrm>
            <a:off x="121297" y="1068355"/>
            <a:ext cx="11914960" cy="3980577"/>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OBJECTIVE</a:t>
            </a:r>
          </a:p>
          <a:p>
            <a:pPr algn="ctr"/>
            <a:endParaRPr lang="en-IN" sz="2000" b="1" dirty="0">
              <a:latin typeface="Times New Roman" panose="02020603050405020304" pitchFamily="18" charset="0"/>
              <a:cs typeface="Times New Roman" panose="02020603050405020304" pitchFamily="18" charset="0"/>
            </a:endParaRPr>
          </a:p>
          <a:p>
            <a:pPr marL="0" lvl="0" indent="0" algn="just" rtl="0">
              <a:lnSpc>
                <a:spcPct val="200000"/>
              </a:lnSpc>
              <a:spcBef>
                <a:spcPts val="1000"/>
              </a:spcBef>
              <a:spcAft>
                <a:spcPts val="0"/>
              </a:spcAft>
              <a:buNone/>
            </a:pPr>
            <a:endParaRPr lang="en-US" sz="1600" dirty="0">
              <a:latin typeface="Times New Roman"/>
              <a:ea typeface="Times New Roman"/>
              <a:cs typeface="Times New Roman"/>
              <a:sym typeface="Times New Roman"/>
            </a:endParaRPr>
          </a:p>
          <a:p>
            <a:pPr marL="114300" lvl="0" indent="0" algn="ctr" rtl="0">
              <a:lnSpc>
                <a:spcPct val="200000"/>
              </a:lnSpc>
              <a:spcBef>
                <a:spcPts val="1000"/>
              </a:spcBef>
              <a:spcAft>
                <a:spcPts val="0"/>
              </a:spcAft>
              <a:buSzPts val="1800"/>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To analyze transfer learning for performance enhancement, integrate a fine-tuned pre-trained, and custom CNN for retinal image classification, and ensure rapid, reliable normal-abnormal categorization.</a:t>
            </a:r>
            <a:endParaRPr lang="en-US" sz="3600" dirty="0">
              <a:latin typeface="Times New Roman" panose="02020603050405020304" pitchFamily="18" charset="0"/>
              <a:ea typeface="Cambria" panose="02040503050406030204" pitchFamily="18" charset="0"/>
              <a:cs typeface="Times New Roman" panose="02020603050405020304" pitchFamily="18" charset="0"/>
              <a:sym typeface="Times New Roman"/>
            </a:endParaRPr>
          </a:p>
          <a:p>
            <a:pPr algn="ct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8893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
            <a:ext cx="12192001" cy="900753"/>
          </a:xfrm>
          <a:solidFill>
            <a:schemeClr val="bg1"/>
          </a:solidFill>
          <a:ln>
            <a:solidFill>
              <a:srgbClr val="CC3300"/>
            </a:solidFill>
          </a:ln>
        </p:spPr>
        <p:txBody>
          <a:bodyPr>
            <a:normAutofit/>
          </a:bodyPr>
          <a:lstStyle/>
          <a:p>
            <a:r>
              <a:rPr lang="en-US" sz="1600" b="1" dirty="0">
                <a:latin typeface="Times New Roman"/>
                <a:ea typeface="Times New Roman"/>
                <a:cs typeface="Times New Roman"/>
                <a:sym typeface="Times New Roman"/>
              </a:rPr>
              <a:t>Retinal Disease Detection and Classification Using Convolutional Neural Networks and </a:t>
            </a:r>
            <a:br>
              <a:rPr lang="en-US" sz="1600" b="1" dirty="0">
                <a:latin typeface="Times New Roman"/>
                <a:ea typeface="Times New Roman"/>
                <a:cs typeface="Times New Roman"/>
                <a:sym typeface="Times New Roman"/>
              </a:rPr>
            </a:br>
            <a:r>
              <a:rPr lang="en-US" sz="1600" b="1" dirty="0">
                <a:latin typeface="Times New Roman"/>
                <a:ea typeface="Times New Roman"/>
                <a:cs typeface="Times New Roman"/>
                <a:sym typeface="Times New Roman"/>
              </a:rPr>
              <a:t>Transfer Learning</a:t>
            </a:r>
            <a:br>
              <a:rPr lang="en-US" sz="16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Paper ID:-338</a:t>
            </a:r>
            <a:endParaRPr lang="en-IN" sz="2000" dirty="0">
              <a:latin typeface="Times New Roman" panose="02020603050405020304" pitchFamily="18" charset="0"/>
              <a:cs typeface="Times New Roman" panose="02020603050405020304" pitchFamily="18" charset="0"/>
            </a:endParaRPr>
          </a:p>
        </p:txBody>
      </p:sp>
      <p:sp>
        <p:nvSpPr>
          <p:cNvPr id="12" name="Rectangle 11"/>
          <p:cNvSpPr/>
          <p:nvPr/>
        </p:nvSpPr>
        <p:spPr>
          <a:xfrm>
            <a:off x="-1" y="6045693"/>
            <a:ext cx="12191999" cy="8123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b="1" i="1" dirty="0">
                <a:solidFill>
                  <a:srgbClr val="000000"/>
                </a:solidFill>
                <a:latin typeface="Times New Roman" panose="02020603050405020304" pitchFamily="18" charset="0"/>
              </a:rPr>
              <a:t>    </a:t>
            </a:r>
            <a:r>
              <a:rPr lang="en-US" sz="1800" b="1" i="0" dirty="0">
                <a:solidFill>
                  <a:srgbClr val="212121"/>
                </a:solidFill>
                <a:effectLst/>
                <a:latin typeface="Lato"/>
              </a:rPr>
              <a:t>International Conference on Advanced Research in Electronics and Communication Systems </a:t>
            </a:r>
            <a:endParaRPr lang="en-US" sz="1800" b="0" i="0" dirty="0">
              <a:solidFill>
                <a:srgbClr val="212121"/>
              </a:solidFill>
              <a:effectLst/>
              <a:latin typeface="Lato"/>
            </a:endParaRPr>
          </a:p>
          <a:p>
            <a:pPr algn="ctr" rtl="0"/>
            <a:r>
              <a:rPr lang="en-US" sz="1800" b="0" i="0" dirty="0">
                <a:solidFill>
                  <a:srgbClr val="212121"/>
                </a:solidFill>
                <a:effectLst/>
                <a:latin typeface="Lato"/>
              </a:rPr>
              <a:t>(</a:t>
            </a:r>
            <a:r>
              <a:rPr lang="en-US" sz="1800" b="1" i="1" dirty="0">
                <a:solidFill>
                  <a:srgbClr val="212121"/>
                </a:solidFill>
                <a:effectLst/>
                <a:latin typeface="Lato"/>
              </a:rPr>
              <a:t>ICARECS-2025</a:t>
            </a:r>
            <a:r>
              <a:rPr lang="en-US" sz="1800" b="0" i="0" dirty="0">
                <a:solidFill>
                  <a:srgbClr val="212121"/>
                </a:solidFill>
                <a:effectLst/>
                <a:latin typeface="Lato"/>
              </a:rPr>
              <a:t>) </a:t>
            </a:r>
          </a:p>
          <a:p>
            <a:pPr algn="ctr"/>
            <a:r>
              <a:rPr lang="en-US" sz="1600" b="1" i="1" dirty="0">
                <a:solidFill>
                  <a:srgbClr val="FF0000"/>
                </a:solidFill>
                <a:latin typeface="Times New Roman" panose="02020603050405020304" pitchFamily="18" charset="0"/>
              </a:rPr>
              <a:t>(26-27 February, 2025)</a:t>
            </a:r>
            <a:endParaRPr lang="en-IN" sz="1600" b="1" i="1" dirty="0">
              <a:solidFill>
                <a:srgbClr val="FF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E8CA1451-7456-D917-D1B7-6C3ABD478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29" y="38912"/>
            <a:ext cx="1967047" cy="828311"/>
          </a:xfrm>
          <a:prstGeom prst="rect">
            <a:avLst/>
          </a:prstGeom>
        </p:spPr>
      </p:pic>
      <p:pic>
        <p:nvPicPr>
          <p:cNvPr id="1026" name="Picture 2">
            <a:extLst>
              <a:ext uri="{FF2B5EF4-FFF2-40B4-BE49-F238E27FC236}">
                <a16:creationId xmlns:a16="http://schemas.microsoft.com/office/drawing/2014/main" id="{0208E776-E087-67F7-C9F4-B76D944E82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2686" y="49533"/>
            <a:ext cx="1293571" cy="8123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36E93DF-DD2D-AF79-6BA2-C4288E0F30D8}"/>
              </a:ext>
            </a:extLst>
          </p:cNvPr>
          <p:cNvSpPr txBox="1"/>
          <p:nvPr/>
        </p:nvSpPr>
        <p:spPr>
          <a:xfrm>
            <a:off x="48229" y="1138335"/>
            <a:ext cx="11988028" cy="4401205"/>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WORKFLOW</a:t>
            </a:r>
          </a:p>
          <a:p>
            <a:pPr algn="just"/>
            <a:endParaRPr lang="en-IN" sz="2000" b="1" dirty="0">
              <a:latin typeface="Times New Roman" panose="02020603050405020304" pitchFamily="18" charset="0"/>
              <a:cs typeface="Times New Roman" panose="02020603050405020304" pitchFamily="18" charset="0"/>
            </a:endParaRPr>
          </a:p>
          <a:p>
            <a:pPr algn="just"/>
            <a:endParaRPr lang="en-IN" sz="2000" b="1" dirty="0">
              <a:latin typeface="Times New Roman" panose="02020603050405020304" pitchFamily="18" charset="0"/>
              <a:cs typeface="Times New Roman" panose="02020603050405020304" pitchFamily="18" charset="0"/>
            </a:endParaRPr>
          </a:p>
          <a:p>
            <a:pPr algn="ctr"/>
            <a:endParaRPr lang="en-IN" sz="2000" b="1" dirty="0">
              <a:latin typeface="Times New Roman" panose="02020603050405020304" pitchFamily="18" charset="0"/>
              <a:cs typeface="Times New Roman" panose="02020603050405020304" pitchFamily="18" charset="0"/>
            </a:endParaRPr>
          </a:p>
          <a:p>
            <a:pPr algn="ctr"/>
            <a:endParaRPr lang="en-IN" sz="2000" b="1" dirty="0">
              <a:latin typeface="Times New Roman" panose="02020603050405020304" pitchFamily="18" charset="0"/>
              <a:cs typeface="Times New Roman" panose="02020603050405020304" pitchFamily="18" charset="0"/>
            </a:endParaRPr>
          </a:p>
          <a:p>
            <a:pPr algn="ctr"/>
            <a:endParaRPr lang="en-IN" sz="2000" b="1" dirty="0">
              <a:latin typeface="Times New Roman" panose="02020603050405020304" pitchFamily="18" charset="0"/>
              <a:cs typeface="Times New Roman" panose="02020603050405020304" pitchFamily="18" charset="0"/>
            </a:endParaRPr>
          </a:p>
          <a:p>
            <a:pPr algn="ctr"/>
            <a:endParaRPr lang="en-IN" sz="2000" b="1" dirty="0">
              <a:latin typeface="Times New Roman" panose="02020603050405020304" pitchFamily="18" charset="0"/>
              <a:cs typeface="Times New Roman" panose="02020603050405020304" pitchFamily="18" charset="0"/>
            </a:endParaRPr>
          </a:p>
          <a:p>
            <a:pPr algn="ctr"/>
            <a:endParaRPr lang="en-IN" sz="2000" b="1" dirty="0">
              <a:latin typeface="Times New Roman" panose="02020603050405020304" pitchFamily="18" charset="0"/>
              <a:cs typeface="Times New Roman" panose="02020603050405020304" pitchFamily="18" charset="0"/>
            </a:endParaRPr>
          </a:p>
          <a:p>
            <a:pPr algn="ctr"/>
            <a:endParaRPr lang="en-IN" sz="2000" b="1" dirty="0">
              <a:latin typeface="Times New Roman" panose="02020603050405020304" pitchFamily="18" charset="0"/>
              <a:cs typeface="Times New Roman" panose="02020603050405020304" pitchFamily="18" charset="0"/>
            </a:endParaRPr>
          </a:p>
          <a:p>
            <a:pPr algn="ctr"/>
            <a:endParaRPr lang="en-IN" sz="2000" b="1" dirty="0">
              <a:latin typeface="Times New Roman" panose="02020603050405020304" pitchFamily="18" charset="0"/>
              <a:cs typeface="Times New Roman" panose="02020603050405020304" pitchFamily="18" charset="0"/>
            </a:endParaRPr>
          </a:p>
          <a:p>
            <a:pPr algn="ctr"/>
            <a:endParaRPr lang="en-IN" sz="2000" b="1" dirty="0">
              <a:latin typeface="Times New Roman" panose="02020603050405020304" pitchFamily="18" charset="0"/>
              <a:cs typeface="Times New Roman" panose="02020603050405020304" pitchFamily="18" charset="0"/>
            </a:endParaRPr>
          </a:p>
          <a:p>
            <a:pPr algn="ctr"/>
            <a:endParaRPr lang="en-IN" sz="2000" b="1" dirty="0">
              <a:latin typeface="Times New Roman" panose="02020603050405020304" pitchFamily="18" charset="0"/>
              <a:cs typeface="Times New Roman" panose="02020603050405020304" pitchFamily="18" charset="0"/>
            </a:endParaRPr>
          </a:p>
          <a:p>
            <a:pPr algn="ctr"/>
            <a:endParaRPr lang="en-IN" sz="2000" b="1" dirty="0">
              <a:latin typeface="Times New Roman" panose="02020603050405020304" pitchFamily="18" charset="0"/>
              <a:cs typeface="Times New Roman" panose="02020603050405020304" pitchFamily="18" charset="0"/>
            </a:endParaRPr>
          </a:p>
          <a:p>
            <a:pPr algn="ctr"/>
            <a:endParaRPr lang="en-IN" sz="2000" b="1" dirty="0">
              <a:latin typeface="Times New Roman" panose="02020603050405020304" pitchFamily="18" charset="0"/>
              <a:cs typeface="Times New Roman" panose="02020603050405020304" pitchFamily="18" charset="0"/>
            </a:endParaRPr>
          </a:p>
        </p:txBody>
      </p:sp>
      <p:sp>
        <p:nvSpPr>
          <p:cNvPr id="35" name="Google Shape;187;p24">
            <a:extLst>
              <a:ext uri="{FF2B5EF4-FFF2-40B4-BE49-F238E27FC236}">
                <a16:creationId xmlns:a16="http://schemas.microsoft.com/office/drawing/2014/main" id="{A2B4F509-9579-B6C8-D232-44E8760B9C94}"/>
              </a:ext>
            </a:extLst>
          </p:cNvPr>
          <p:cNvSpPr/>
          <p:nvPr/>
        </p:nvSpPr>
        <p:spPr>
          <a:xfrm>
            <a:off x="318104" y="1908372"/>
            <a:ext cx="1561708" cy="712336"/>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lang="en-US" sz="1800" dirty="0">
              <a:solidFill>
                <a:schemeClr val="dk1"/>
              </a:solidFill>
              <a:latin typeface="Calibri"/>
              <a:ea typeface="Calibri"/>
              <a:cs typeface="Calibri"/>
              <a:sym typeface="Calibri"/>
            </a:endParaRPr>
          </a:p>
          <a:p>
            <a:pPr algn="ctr"/>
            <a:r>
              <a:rPr lang="en-US" sz="1800" dirty="0">
                <a:solidFill>
                  <a:schemeClr val="dk1"/>
                </a:solidFill>
                <a:latin typeface="Calibri"/>
                <a:ea typeface="Calibri"/>
                <a:cs typeface="Calibri"/>
                <a:sym typeface="Calibri"/>
              </a:rPr>
              <a:t>Collection of Dataset </a:t>
            </a:r>
          </a:p>
          <a:p>
            <a:pPr marL="0" lvl="0" indent="0" algn="ctr" rtl="0">
              <a:spcBef>
                <a:spcPts val="0"/>
              </a:spcBef>
              <a:spcAft>
                <a:spcPts val="0"/>
              </a:spcAft>
              <a:buNone/>
            </a:pPr>
            <a:endParaRPr lang="en-US" dirty="0">
              <a:latin typeface="Calibri"/>
              <a:ea typeface="Calibri"/>
              <a:cs typeface="Calibri"/>
              <a:sym typeface="Calibri"/>
            </a:endParaRPr>
          </a:p>
        </p:txBody>
      </p:sp>
      <p:sp>
        <p:nvSpPr>
          <p:cNvPr id="36" name="Google Shape;190;p24">
            <a:extLst>
              <a:ext uri="{FF2B5EF4-FFF2-40B4-BE49-F238E27FC236}">
                <a16:creationId xmlns:a16="http://schemas.microsoft.com/office/drawing/2014/main" id="{F5A79437-4B87-FA5D-4B29-A8C22474BFF4}"/>
              </a:ext>
            </a:extLst>
          </p:cNvPr>
          <p:cNvSpPr/>
          <p:nvPr/>
        </p:nvSpPr>
        <p:spPr>
          <a:xfrm>
            <a:off x="2612719" y="1750945"/>
            <a:ext cx="1561708" cy="777651"/>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lang="en-US" sz="1800" dirty="0">
              <a:solidFill>
                <a:schemeClr val="dk1"/>
              </a:solidFill>
              <a:latin typeface="Times New Roman"/>
              <a:ea typeface="Times New Roman"/>
              <a:cs typeface="Times New Roman"/>
              <a:sym typeface="Times New Roman"/>
            </a:endParaRPr>
          </a:p>
          <a:p>
            <a:pPr algn="ctr"/>
            <a:r>
              <a:rPr lang="en-US" sz="1800" dirty="0">
                <a:solidFill>
                  <a:schemeClr val="dk1"/>
                </a:solidFill>
                <a:latin typeface="Times New Roman"/>
                <a:ea typeface="Times New Roman"/>
                <a:cs typeface="Times New Roman"/>
                <a:sym typeface="Times New Roman"/>
              </a:rPr>
              <a:t>Preprocessing of Data</a:t>
            </a:r>
          </a:p>
          <a:p>
            <a:pPr marL="0" lvl="0" indent="0" algn="ctr" rtl="0">
              <a:spcBef>
                <a:spcPts val="0"/>
              </a:spcBef>
              <a:spcAft>
                <a:spcPts val="0"/>
              </a:spcAft>
              <a:buNone/>
            </a:pPr>
            <a:endParaRPr dirty="0">
              <a:latin typeface="Calibri"/>
              <a:ea typeface="Calibri"/>
              <a:cs typeface="Calibri"/>
              <a:sym typeface="Calibri"/>
            </a:endParaRPr>
          </a:p>
        </p:txBody>
      </p:sp>
      <p:sp>
        <p:nvSpPr>
          <p:cNvPr id="37" name="Google Shape;193;p24">
            <a:extLst>
              <a:ext uri="{FF2B5EF4-FFF2-40B4-BE49-F238E27FC236}">
                <a16:creationId xmlns:a16="http://schemas.microsoft.com/office/drawing/2014/main" id="{53A6C4BF-BA77-4E38-232F-25565B0A01B5}"/>
              </a:ext>
            </a:extLst>
          </p:cNvPr>
          <p:cNvSpPr/>
          <p:nvPr/>
        </p:nvSpPr>
        <p:spPr>
          <a:xfrm>
            <a:off x="5219604" y="1587664"/>
            <a:ext cx="2116836" cy="1192858"/>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lang="en-US" sz="1800" dirty="0">
              <a:solidFill>
                <a:schemeClr val="dk1"/>
              </a:solidFill>
              <a:latin typeface="Times New Roman"/>
              <a:ea typeface="Times New Roman"/>
              <a:cs typeface="Times New Roman"/>
              <a:sym typeface="Times New Roman"/>
            </a:endParaRPr>
          </a:p>
          <a:p>
            <a:pPr algn="ctr"/>
            <a:r>
              <a:rPr lang="en-US" sz="1800" dirty="0">
                <a:solidFill>
                  <a:schemeClr val="dk1"/>
                </a:solidFill>
                <a:latin typeface="Times New Roman"/>
                <a:ea typeface="Times New Roman"/>
                <a:cs typeface="Times New Roman"/>
                <a:sym typeface="Times New Roman"/>
              </a:rPr>
              <a:t>Selecting Different CNN Models for training and testing purpose</a:t>
            </a:r>
          </a:p>
          <a:p>
            <a:pPr marL="0" lvl="0" indent="0" algn="ctr" rtl="0">
              <a:spcBef>
                <a:spcPts val="0"/>
              </a:spcBef>
              <a:spcAft>
                <a:spcPts val="0"/>
              </a:spcAft>
              <a:buNone/>
            </a:pPr>
            <a:endParaRPr dirty="0">
              <a:latin typeface="Calibri"/>
              <a:ea typeface="Calibri"/>
              <a:cs typeface="Calibri"/>
              <a:sym typeface="Calibri"/>
            </a:endParaRPr>
          </a:p>
        </p:txBody>
      </p:sp>
      <p:sp>
        <p:nvSpPr>
          <p:cNvPr id="39" name="Google Shape;196;p24">
            <a:extLst>
              <a:ext uri="{FF2B5EF4-FFF2-40B4-BE49-F238E27FC236}">
                <a16:creationId xmlns:a16="http://schemas.microsoft.com/office/drawing/2014/main" id="{D240BFAB-3D06-477E-272C-E2F155D166AE}"/>
              </a:ext>
            </a:extLst>
          </p:cNvPr>
          <p:cNvSpPr/>
          <p:nvPr/>
        </p:nvSpPr>
        <p:spPr>
          <a:xfrm>
            <a:off x="8298886" y="1587664"/>
            <a:ext cx="2443800" cy="12018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Calibri"/>
              <a:ea typeface="Calibri"/>
              <a:cs typeface="Calibri"/>
              <a:sym typeface="Calibri"/>
            </a:endParaRPr>
          </a:p>
        </p:txBody>
      </p:sp>
      <p:sp>
        <p:nvSpPr>
          <p:cNvPr id="38" name="Google Shape;197;p24">
            <a:extLst>
              <a:ext uri="{FF2B5EF4-FFF2-40B4-BE49-F238E27FC236}">
                <a16:creationId xmlns:a16="http://schemas.microsoft.com/office/drawing/2014/main" id="{D84E784A-47E3-652F-7E44-AF057A736242}"/>
              </a:ext>
            </a:extLst>
          </p:cNvPr>
          <p:cNvSpPr txBox="1"/>
          <p:nvPr/>
        </p:nvSpPr>
        <p:spPr>
          <a:xfrm>
            <a:off x="8298886" y="1495178"/>
            <a:ext cx="2378400" cy="1354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dirty="0">
                <a:solidFill>
                  <a:schemeClr val="dk1"/>
                </a:solidFill>
                <a:latin typeface="Times New Roman"/>
                <a:ea typeface="Times New Roman"/>
                <a:cs typeface="Times New Roman"/>
                <a:sym typeface="Times New Roman"/>
              </a:rPr>
              <a:t>Classifying the data as multiclass and binary class for both training and testing.</a:t>
            </a:r>
            <a:endParaRPr sz="1900" dirty="0">
              <a:solidFill>
                <a:schemeClr val="dk1"/>
              </a:solidFill>
              <a:latin typeface="Times New Roman"/>
              <a:ea typeface="Times New Roman"/>
              <a:cs typeface="Times New Roman"/>
              <a:sym typeface="Times New Roman"/>
            </a:endParaRPr>
          </a:p>
        </p:txBody>
      </p:sp>
      <p:sp>
        <p:nvSpPr>
          <p:cNvPr id="40" name="Google Shape;196;p24">
            <a:extLst>
              <a:ext uri="{FF2B5EF4-FFF2-40B4-BE49-F238E27FC236}">
                <a16:creationId xmlns:a16="http://schemas.microsoft.com/office/drawing/2014/main" id="{DD443D4D-E4D0-28C4-C5CD-86CE37267024}"/>
              </a:ext>
            </a:extLst>
          </p:cNvPr>
          <p:cNvSpPr/>
          <p:nvPr/>
        </p:nvSpPr>
        <p:spPr>
          <a:xfrm>
            <a:off x="8298886" y="3054604"/>
            <a:ext cx="2443800" cy="12018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lang="en-US" sz="1600" dirty="0">
              <a:solidFill>
                <a:schemeClr val="dk1"/>
              </a:solidFill>
              <a:latin typeface="Times New Roman"/>
              <a:ea typeface="Times New Roman"/>
              <a:cs typeface="Times New Roman"/>
              <a:sym typeface="Times New Roman"/>
            </a:endParaRPr>
          </a:p>
          <a:p>
            <a:pPr algn="ctr"/>
            <a:r>
              <a:rPr lang="en-US" sz="1600" dirty="0" err="1">
                <a:solidFill>
                  <a:schemeClr val="dk1"/>
                </a:solidFill>
                <a:latin typeface="Times New Roman"/>
                <a:ea typeface="Times New Roman"/>
                <a:cs typeface="Times New Roman"/>
                <a:sym typeface="Times New Roman"/>
              </a:rPr>
              <a:t>Analysing</a:t>
            </a:r>
            <a:r>
              <a:rPr lang="en-US" sz="1600" dirty="0">
                <a:solidFill>
                  <a:schemeClr val="dk1"/>
                </a:solidFill>
                <a:latin typeface="Times New Roman"/>
                <a:ea typeface="Times New Roman"/>
                <a:cs typeface="Times New Roman"/>
                <a:sym typeface="Times New Roman"/>
              </a:rPr>
              <a:t> the Resnet50 Model in binary class and Multi with diff. Learning rate and optimizers.</a:t>
            </a:r>
          </a:p>
          <a:p>
            <a:pPr marL="0" lvl="0" indent="0" algn="ctr" rtl="0">
              <a:spcBef>
                <a:spcPts val="0"/>
              </a:spcBef>
              <a:spcAft>
                <a:spcPts val="0"/>
              </a:spcAft>
              <a:buNone/>
            </a:pPr>
            <a:endParaRPr sz="1600" dirty="0">
              <a:latin typeface="Calibri"/>
              <a:ea typeface="Calibri"/>
              <a:cs typeface="Calibri"/>
              <a:sym typeface="Calibri"/>
            </a:endParaRPr>
          </a:p>
        </p:txBody>
      </p:sp>
      <p:sp>
        <p:nvSpPr>
          <p:cNvPr id="41" name="Google Shape;203;p24">
            <a:extLst>
              <a:ext uri="{FF2B5EF4-FFF2-40B4-BE49-F238E27FC236}">
                <a16:creationId xmlns:a16="http://schemas.microsoft.com/office/drawing/2014/main" id="{40B36C15-194A-FA38-1747-ED2898E32870}"/>
              </a:ext>
            </a:extLst>
          </p:cNvPr>
          <p:cNvSpPr/>
          <p:nvPr/>
        </p:nvSpPr>
        <p:spPr>
          <a:xfrm>
            <a:off x="5129572" y="3215855"/>
            <a:ext cx="2443799" cy="1040549"/>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lang="en-US" sz="1600" dirty="0">
              <a:solidFill>
                <a:schemeClr val="dk1"/>
              </a:solidFill>
              <a:latin typeface="Times New Roman"/>
              <a:ea typeface="Times New Roman"/>
              <a:cs typeface="Times New Roman"/>
              <a:sym typeface="Times New Roman"/>
            </a:endParaRPr>
          </a:p>
          <a:p>
            <a:pPr algn="ctr"/>
            <a:r>
              <a:rPr lang="en-US" sz="1600" dirty="0">
                <a:solidFill>
                  <a:schemeClr val="dk1"/>
                </a:solidFill>
                <a:latin typeface="Times New Roman"/>
                <a:ea typeface="Times New Roman"/>
                <a:cs typeface="Times New Roman"/>
                <a:sym typeface="Times New Roman"/>
              </a:rPr>
              <a:t>Going with another CNN model: </a:t>
            </a:r>
            <a:r>
              <a:rPr lang="en-US" sz="1600" dirty="0" err="1">
                <a:solidFill>
                  <a:schemeClr val="dk1"/>
                </a:solidFill>
                <a:latin typeface="Times New Roman"/>
                <a:ea typeface="Times New Roman"/>
                <a:cs typeface="Times New Roman"/>
                <a:sym typeface="Times New Roman"/>
              </a:rPr>
              <a:t>MobileNet</a:t>
            </a:r>
            <a:r>
              <a:rPr lang="en-US" sz="1600" dirty="0">
                <a:solidFill>
                  <a:schemeClr val="dk1"/>
                </a:solidFill>
                <a:latin typeface="Times New Roman"/>
                <a:ea typeface="Times New Roman"/>
                <a:cs typeface="Times New Roman"/>
                <a:sym typeface="Times New Roman"/>
              </a:rPr>
              <a:t> for better accuracy for the classification.</a:t>
            </a:r>
          </a:p>
          <a:p>
            <a:pPr marL="0" lvl="0" indent="0" algn="ctr" rtl="0">
              <a:spcBef>
                <a:spcPts val="0"/>
              </a:spcBef>
              <a:spcAft>
                <a:spcPts val="0"/>
              </a:spcAft>
              <a:buNone/>
            </a:pPr>
            <a:endParaRPr sz="1600" dirty="0">
              <a:latin typeface="Calibri"/>
              <a:ea typeface="Calibri"/>
              <a:cs typeface="Calibri"/>
              <a:sym typeface="Calibri"/>
            </a:endParaRPr>
          </a:p>
        </p:txBody>
      </p:sp>
      <p:sp>
        <p:nvSpPr>
          <p:cNvPr id="42" name="Google Shape;206;p24">
            <a:extLst>
              <a:ext uri="{FF2B5EF4-FFF2-40B4-BE49-F238E27FC236}">
                <a16:creationId xmlns:a16="http://schemas.microsoft.com/office/drawing/2014/main" id="{08B4CD08-1BEF-C4E4-5ED3-B036531FF9E8}"/>
              </a:ext>
            </a:extLst>
          </p:cNvPr>
          <p:cNvSpPr/>
          <p:nvPr/>
        </p:nvSpPr>
        <p:spPr>
          <a:xfrm>
            <a:off x="1511032" y="3090415"/>
            <a:ext cx="2443800" cy="1274801"/>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lang="en-US" sz="1600" dirty="0">
              <a:solidFill>
                <a:schemeClr val="dk1"/>
              </a:solidFill>
              <a:latin typeface="Times New Roman"/>
              <a:ea typeface="Times New Roman"/>
              <a:cs typeface="Times New Roman"/>
              <a:sym typeface="Times New Roman"/>
            </a:endParaRPr>
          </a:p>
          <a:p>
            <a:pPr algn="ctr"/>
            <a:r>
              <a:rPr lang="en-US" sz="1600" dirty="0">
                <a:solidFill>
                  <a:schemeClr val="dk1"/>
                </a:solidFill>
                <a:latin typeface="Times New Roman"/>
                <a:ea typeface="Times New Roman"/>
                <a:cs typeface="Times New Roman"/>
                <a:sym typeface="Times New Roman"/>
              </a:rPr>
              <a:t>Hereafter, we propose our own CNN model with different number layers for better accuracy results.</a:t>
            </a:r>
          </a:p>
          <a:p>
            <a:pPr marL="0" lvl="0" indent="0" algn="ctr" rtl="0">
              <a:spcBef>
                <a:spcPts val="0"/>
              </a:spcBef>
              <a:spcAft>
                <a:spcPts val="0"/>
              </a:spcAft>
              <a:buNone/>
            </a:pPr>
            <a:endParaRPr sz="1600" dirty="0">
              <a:latin typeface="Calibri"/>
              <a:ea typeface="Calibri"/>
              <a:cs typeface="Calibri"/>
              <a:sym typeface="Calibri"/>
            </a:endParaRPr>
          </a:p>
        </p:txBody>
      </p:sp>
      <p:sp>
        <p:nvSpPr>
          <p:cNvPr id="43" name="Google Shape;209;p24">
            <a:extLst>
              <a:ext uri="{FF2B5EF4-FFF2-40B4-BE49-F238E27FC236}">
                <a16:creationId xmlns:a16="http://schemas.microsoft.com/office/drawing/2014/main" id="{3C3B6E1F-AE4A-41F5-E82B-AD9AADC2ABF7}"/>
              </a:ext>
            </a:extLst>
          </p:cNvPr>
          <p:cNvSpPr/>
          <p:nvPr/>
        </p:nvSpPr>
        <p:spPr>
          <a:xfrm>
            <a:off x="308995" y="4575494"/>
            <a:ext cx="2005818" cy="1299408"/>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lang="en-US" sz="1800" dirty="0">
              <a:solidFill>
                <a:schemeClr val="dk1"/>
              </a:solidFill>
              <a:latin typeface="Times New Roman"/>
              <a:ea typeface="Times New Roman"/>
              <a:cs typeface="Times New Roman"/>
              <a:sym typeface="Times New Roman"/>
            </a:endParaRPr>
          </a:p>
          <a:p>
            <a:pPr algn="ctr"/>
            <a:r>
              <a:rPr lang="en-US" sz="1800" dirty="0">
                <a:solidFill>
                  <a:schemeClr val="dk1"/>
                </a:solidFill>
                <a:latin typeface="Times New Roman"/>
                <a:ea typeface="Times New Roman"/>
                <a:cs typeface="Times New Roman"/>
                <a:sym typeface="Times New Roman"/>
              </a:rPr>
              <a:t>CNN5, CNN7, CNN9 and also combining two models</a:t>
            </a:r>
          </a:p>
          <a:p>
            <a:pPr marL="0" lvl="0" indent="0" algn="ctr" rtl="0">
              <a:spcBef>
                <a:spcPts val="0"/>
              </a:spcBef>
              <a:spcAft>
                <a:spcPts val="0"/>
              </a:spcAft>
              <a:buNone/>
            </a:pPr>
            <a:endParaRPr dirty="0">
              <a:latin typeface="Calibri"/>
              <a:ea typeface="Calibri"/>
              <a:cs typeface="Calibri"/>
              <a:sym typeface="Calibri"/>
            </a:endParaRPr>
          </a:p>
        </p:txBody>
      </p:sp>
      <p:sp>
        <p:nvSpPr>
          <p:cNvPr id="44" name="Google Shape;212;p24">
            <a:extLst>
              <a:ext uri="{FF2B5EF4-FFF2-40B4-BE49-F238E27FC236}">
                <a16:creationId xmlns:a16="http://schemas.microsoft.com/office/drawing/2014/main" id="{5D62C3C1-CC50-5F7D-249F-728B867CC0FA}"/>
              </a:ext>
            </a:extLst>
          </p:cNvPr>
          <p:cNvSpPr/>
          <p:nvPr/>
        </p:nvSpPr>
        <p:spPr>
          <a:xfrm>
            <a:off x="3698711" y="4555469"/>
            <a:ext cx="3041785" cy="1332258"/>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lang="en-US" sz="1800" dirty="0">
              <a:solidFill>
                <a:schemeClr val="dk1"/>
              </a:solidFill>
              <a:latin typeface="Times New Roman"/>
              <a:ea typeface="Times New Roman"/>
              <a:cs typeface="Times New Roman"/>
              <a:sym typeface="Times New Roman"/>
            </a:endParaRPr>
          </a:p>
          <a:p>
            <a:pPr algn="ctr"/>
            <a:r>
              <a:rPr lang="en-US" sz="1800" dirty="0">
                <a:solidFill>
                  <a:schemeClr val="dk1"/>
                </a:solidFill>
                <a:latin typeface="Times New Roman"/>
                <a:ea typeface="Times New Roman"/>
                <a:cs typeface="Times New Roman"/>
                <a:sym typeface="Times New Roman"/>
              </a:rPr>
              <a:t>Classifying all outputs and making a comparison analysis and integrating this with the web application stack.</a:t>
            </a:r>
          </a:p>
          <a:p>
            <a:pPr marL="0" lvl="0" indent="0" algn="ctr" rtl="0">
              <a:spcBef>
                <a:spcPts val="0"/>
              </a:spcBef>
              <a:spcAft>
                <a:spcPts val="0"/>
              </a:spcAft>
              <a:buNone/>
            </a:pPr>
            <a:endParaRPr dirty="0">
              <a:latin typeface="Calibri"/>
              <a:ea typeface="Calibri"/>
              <a:cs typeface="Calibri"/>
              <a:sym typeface="Calibri"/>
            </a:endParaRPr>
          </a:p>
        </p:txBody>
      </p:sp>
      <p:sp>
        <p:nvSpPr>
          <p:cNvPr id="45" name="Google Shape;189;p24">
            <a:extLst>
              <a:ext uri="{FF2B5EF4-FFF2-40B4-BE49-F238E27FC236}">
                <a16:creationId xmlns:a16="http://schemas.microsoft.com/office/drawing/2014/main" id="{5CEDF6B4-7E0C-C11F-387C-CB68B744AB24}"/>
              </a:ext>
            </a:extLst>
          </p:cNvPr>
          <p:cNvSpPr/>
          <p:nvPr/>
        </p:nvSpPr>
        <p:spPr>
          <a:xfrm>
            <a:off x="1946944" y="2093392"/>
            <a:ext cx="538500" cy="197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6" name="Google Shape;189;p24">
            <a:extLst>
              <a:ext uri="{FF2B5EF4-FFF2-40B4-BE49-F238E27FC236}">
                <a16:creationId xmlns:a16="http://schemas.microsoft.com/office/drawing/2014/main" id="{57607CD6-A9D7-7639-11AA-AEDC251F3BC0}"/>
              </a:ext>
            </a:extLst>
          </p:cNvPr>
          <p:cNvSpPr/>
          <p:nvPr/>
        </p:nvSpPr>
        <p:spPr>
          <a:xfrm>
            <a:off x="4393291" y="2037725"/>
            <a:ext cx="538500" cy="197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7" name="Google Shape;189;p24">
            <a:extLst>
              <a:ext uri="{FF2B5EF4-FFF2-40B4-BE49-F238E27FC236}">
                <a16:creationId xmlns:a16="http://schemas.microsoft.com/office/drawing/2014/main" id="{DF034227-AB1D-056F-604B-F41F944EC2FD}"/>
              </a:ext>
            </a:extLst>
          </p:cNvPr>
          <p:cNvSpPr/>
          <p:nvPr/>
        </p:nvSpPr>
        <p:spPr>
          <a:xfrm>
            <a:off x="7548413" y="2156743"/>
            <a:ext cx="538500" cy="197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8" name="Google Shape;195;p24">
            <a:extLst>
              <a:ext uri="{FF2B5EF4-FFF2-40B4-BE49-F238E27FC236}">
                <a16:creationId xmlns:a16="http://schemas.microsoft.com/office/drawing/2014/main" id="{EF57F818-F6A0-2B75-EFBD-6EFCAD471443}"/>
              </a:ext>
            </a:extLst>
          </p:cNvPr>
          <p:cNvSpPr/>
          <p:nvPr/>
        </p:nvSpPr>
        <p:spPr>
          <a:xfrm>
            <a:off x="10974967" y="2234825"/>
            <a:ext cx="664765" cy="1587723"/>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9" name="Google Shape;199;p24">
            <a:extLst>
              <a:ext uri="{FF2B5EF4-FFF2-40B4-BE49-F238E27FC236}">
                <a16:creationId xmlns:a16="http://schemas.microsoft.com/office/drawing/2014/main" id="{A7960045-67A3-3290-2565-33E40D3220A5}"/>
              </a:ext>
            </a:extLst>
          </p:cNvPr>
          <p:cNvSpPr/>
          <p:nvPr/>
        </p:nvSpPr>
        <p:spPr>
          <a:xfrm>
            <a:off x="7615656" y="3593454"/>
            <a:ext cx="604500" cy="1971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0" name="Google Shape;199;p24">
            <a:extLst>
              <a:ext uri="{FF2B5EF4-FFF2-40B4-BE49-F238E27FC236}">
                <a16:creationId xmlns:a16="http://schemas.microsoft.com/office/drawing/2014/main" id="{F6110062-742B-2BBF-1F57-7B5DAD96A139}"/>
              </a:ext>
            </a:extLst>
          </p:cNvPr>
          <p:cNvSpPr/>
          <p:nvPr/>
        </p:nvSpPr>
        <p:spPr>
          <a:xfrm>
            <a:off x="4180259" y="3573080"/>
            <a:ext cx="751532" cy="326097"/>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1" name="Google Shape;205;p24">
            <a:extLst>
              <a:ext uri="{FF2B5EF4-FFF2-40B4-BE49-F238E27FC236}">
                <a16:creationId xmlns:a16="http://schemas.microsoft.com/office/drawing/2014/main" id="{9190308E-5937-963F-8465-84C86DD036A4}"/>
              </a:ext>
            </a:extLst>
          </p:cNvPr>
          <p:cNvSpPr/>
          <p:nvPr/>
        </p:nvSpPr>
        <p:spPr>
          <a:xfrm rot="2133469">
            <a:off x="283163" y="2993680"/>
            <a:ext cx="674142" cy="1608665"/>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2" name="Google Shape;208;p24">
            <a:extLst>
              <a:ext uri="{FF2B5EF4-FFF2-40B4-BE49-F238E27FC236}">
                <a16:creationId xmlns:a16="http://schemas.microsoft.com/office/drawing/2014/main" id="{94E30E9B-BFC0-E577-541D-A9B112BDF75C}"/>
              </a:ext>
            </a:extLst>
          </p:cNvPr>
          <p:cNvSpPr/>
          <p:nvPr/>
        </p:nvSpPr>
        <p:spPr>
          <a:xfrm>
            <a:off x="2699398" y="5149935"/>
            <a:ext cx="538500" cy="197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3" name="Google Shape;214;p24">
            <a:extLst>
              <a:ext uri="{FF2B5EF4-FFF2-40B4-BE49-F238E27FC236}">
                <a16:creationId xmlns:a16="http://schemas.microsoft.com/office/drawing/2014/main" id="{49C9D75E-17C7-FB1B-EFFB-8FD598E9CB6C}"/>
              </a:ext>
            </a:extLst>
          </p:cNvPr>
          <p:cNvSpPr/>
          <p:nvPr/>
        </p:nvSpPr>
        <p:spPr>
          <a:xfrm>
            <a:off x="333353" y="1513045"/>
            <a:ext cx="236400" cy="3651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4" name="Google Shape;214;p24">
            <a:extLst>
              <a:ext uri="{FF2B5EF4-FFF2-40B4-BE49-F238E27FC236}">
                <a16:creationId xmlns:a16="http://schemas.microsoft.com/office/drawing/2014/main" id="{8DA0D32C-6684-0F43-B509-483F8E6F0CED}"/>
              </a:ext>
            </a:extLst>
          </p:cNvPr>
          <p:cNvSpPr/>
          <p:nvPr/>
        </p:nvSpPr>
        <p:spPr>
          <a:xfrm>
            <a:off x="900137" y="1515018"/>
            <a:ext cx="236400" cy="3651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5" name="Google Shape;214;p24">
            <a:extLst>
              <a:ext uri="{FF2B5EF4-FFF2-40B4-BE49-F238E27FC236}">
                <a16:creationId xmlns:a16="http://schemas.microsoft.com/office/drawing/2014/main" id="{669C996E-81B0-B13A-F152-9C32EFB907D9}"/>
              </a:ext>
            </a:extLst>
          </p:cNvPr>
          <p:cNvSpPr/>
          <p:nvPr/>
        </p:nvSpPr>
        <p:spPr>
          <a:xfrm>
            <a:off x="1449342" y="1509182"/>
            <a:ext cx="236400" cy="3651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Calibri"/>
              <a:ea typeface="Calibri"/>
              <a:cs typeface="Calibri"/>
              <a:sym typeface="Calibri"/>
            </a:endParaRPr>
          </a:p>
        </p:txBody>
      </p:sp>
      <p:sp>
        <p:nvSpPr>
          <p:cNvPr id="57" name="TextBox 56">
            <a:extLst>
              <a:ext uri="{FF2B5EF4-FFF2-40B4-BE49-F238E27FC236}">
                <a16:creationId xmlns:a16="http://schemas.microsoft.com/office/drawing/2014/main" id="{D0CF650F-C183-F842-E56C-0590D4EEC85A}"/>
              </a:ext>
            </a:extLst>
          </p:cNvPr>
          <p:cNvSpPr txBox="1"/>
          <p:nvPr/>
        </p:nvSpPr>
        <p:spPr>
          <a:xfrm>
            <a:off x="155743" y="1230925"/>
            <a:ext cx="1996637"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Train  Test   validation</a:t>
            </a:r>
          </a:p>
        </p:txBody>
      </p:sp>
      <p:sp>
        <p:nvSpPr>
          <p:cNvPr id="58" name="Google Shape;208;p24">
            <a:extLst>
              <a:ext uri="{FF2B5EF4-FFF2-40B4-BE49-F238E27FC236}">
                <a16:creationId xmlns:a16="http://schemas.microsoft.com/office/drawing/2014/main" id="{7612F728-48D7-FC41-17F9-9317EBFC2DEF}"/>
              </a:ext>
            </a:extLst>
          </p:cNvPr>
          <p:cNvSpPr/>
          <p:nvPr/>
        </p:nvSpPr>
        <p:spPr>
          <a:xfrm>
            <a:off x="6910447" y="5171786"/>
            <a:ext cx="538500" cy="197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9" name="TextBox 58">
            <a:extLst>
              <a:ext uri="{FF2B5EF4-FFF2-40B4-BE49-F238E27FC236}">
                <a16:creationId xmlns:a16="http://schemas.microsoft.com/office/drawing/2014/main" id="{BF2A085E-47B2-67E0-F745-0FF2FE7A2D3E}"/>
              </a:ext>
            </a:extLst>
          </p:cNvPr>
          <p:cNvSpPr txBox="1"/>
          <p:nvPr/>
        </p:nvSpPr>
        <p:spPr>
          <a:xfrm>
            <a:off x="7071593" y="5059917"/>
            <a:ext cx="1692625"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Output</a:t>
            </a:r>
          </a:p>
        </p:txBody>
      </p:sp>
    </p:spTree>
    <p:extLst>
      <p:ext uri="{BB962C8B-B14F-4D97-AF65-F5344CB8AC3E}">
        <p14:creationId xmlns:p14="http://schemas.microsoft.com/office/powerpoint/2010/main" val="4259925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
            <a:ext cx="12192001" cy="900753"/>
          </a:xfrm>
          <a:solidFill>
            <a:schemeClr val="bg1"/>
          </a:solidFill>
          <a:ln>
            <a:solidFill>
              <a:srgbClr val="CC3300"/>
            </a:solidFill>
          </a:ln>
        </p:spPr>
        <p:txBody>
          <a:bodyPr>
            <a:normAutofit/>
          </a:bodyPr>
          <a:lstStyle/>
          <a:p>
            <a:r>
              <a:rPr lang="en-US" sz="1600" b="1" dirty="0">
                <a:latin typeface="Times New Roman"/>
                <a:ea typeface="Times New Roman"/>
                <a:cs typeface="Times New Roman"/>
                <a:sym typeface="Times New Roman"/>
              </a:rPr>
              <a:t>Retinal Disease Detection and Classification Using Convolutional Neural Networks and </a:t>
            </a:r>
            <a:br>
              <a:rPr lang="en-US" sz="1600" b="1" dirty="0">
                <a:latin typeface="Times New Roman"/>
                <a:ea typeface="Times New Roman"/>
                <a:cs typeface="Times New Roman"/>
                <a:sym typeface="Times New Roman"/>
              </a:rPr>
            </a:br>
            <a:r>
              <a:rPr lang="en-US" sz="1600" b="1" dirty="0">
                <a:latin typeface="Times New Roman"/>
                <a:ea typeface="Times New Roman"/>
                <a:cs typeface="Times New Roman"/>
                <a:sym typeface="Times New Roman"/>
              </a:rPr>
              <a:t>Transfer Learning</a:t>
            </a:r>
            <a:br>
              <a:rPr lang="en-US" sz="16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Paper ID:-338</a:t>
            </a:r>
            <a:endParaRPr lang="en-IN" sz="2000" dirty="0">
              <a:latin typeface="Times New Roman" panose="02020603050405020304" pitchFamily="18" charset="0"/>
              <a:cs typeface="Times New Roman" panose="02020603050405020304" pitchFamily="18" charset="0"/>
            </a:endParaRPr>
          </a:p>
        </p:txBody>
      </p:sp>
      <p:sp>
        <p:nvSpPr>
          <p:cNvPr id="12" name="Rectangle 11"/>
          <p:cNvSpPr/>
          <p:nvPr/>
        </p:nvSpPr>
        <p:spPr>
          <a:xfrm>
            <a:off x="-1" y="6045693"/>
            <a:ext cx="12191999" cy="8123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b="1" i="1" dirty="0">
                <a:solidFill>
                  <a:srgbClr val="000000"/>
                </a:solidFill>
                <a:latin typeface="Times New Roman" panose="02020603050405020304" pitchFamily="18" charset="0"/>
              </a:rPr>
              <a:t>    </a:t>
            </a:r>
            <a:r>
              <a:rPr lang="en-US" sz="1800" b="1" i="0" dirty="0">
                <a:solidFill>
                  <a:srgbClr val="212121"/>
                </a:solidFill>
                <a:effectLst/>
                <a:latin typeface="Lato"/>
              </a:rPr>
              <a:t>International Conference on Advanced Research in Electronics and Communication Systems </a:t>
            </a:r>
            <a:endParaRPr lang="en-US" sz="1800" b="0" i="0" dirty="0">
              <a:solidFill>
                <a:srgbClr val="212121"/>
              </a:solidFill>
              <a:effectLst/>
              <a:latin typeface="Lato"/>
            </a:endParaRPr>
          </a:p>
          <a:p>
            <a:pPr algn="ctr" rtl="0"/>
            <a:r>
              <a:rPr lang="en-US" sz="1800" b="0" i="0" dirty="0">
                <a:solidFill>
                  <a:srgbClr val="212121"/>
                </a:solidFill>
                <a:effectLst/>
                <a:latin typeface="Lato"/>
              </a:rPr>
              <a:t>(</a:t>
            </a:r>
            <a:r>
              <a:rPr lang="en-US" sz="1800" b="1" i="1" dirty="0">
                <a:solidFill>
                  <a:srgbClr val="212121"/>
                </a:solidFill>
                <a:effectLst/>
                <a:latin typeface="Lato"/>
              </a:rPr>
              <a:t>ICARECS-2025</a:t>
            </a:r>
            <a:r>
              <a:rPr lang="en-US" sz="1800" b="0" i="0" dirty="0">
                <a:solidFill>
                  <a:srgbClr val="212121"/>
                </a:solidFill>
                <a:effectLst/>
                <a:latin typeface="Lato"/>
              </a:rPr>
              <a:t>) </a:t>
            </a:r>
          </a:p>
          <a:p>
            <a:pPr algn="ctr"/>
            <a:r>
              <a:rPr lang="en-US" sz="1600" b="1" i="1" dirty="0">
                <a:solidFill>
                  <a:srgbClr val="FF0000"/>
                </a:solidFill>
                <a:latin typeface="Times New Roman" panose="02020603050405020304" pitchFamily="18" charset="0"/>
              </a:rPr>
              <a:t>(26-27 February, 2025)</a:t>
            </a:r>
            <a:endParaRPr lang="en-IN" sz="1600" b="1" i="1" dirty="0">
              <a:solidFill>
                <a:srgbClr val="FF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E8CA1451-7456-D917-D1B7-6C3ABD478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29" y="38912"/>
            <a:ext cx="1967047" cy="828311"/>
          </a:xfrm>
          <a:prstGeom prst="rect">
            <a:avLst/>
          </a:prstGeom>
        </p:spPr>
      </p:pic>
      <p:pic>
        <p:nvPicPr>
          <p:cNvPr id="1026" name="Picture 2">
            <a:extLst>
              <a:ext uri="{FF2B5EF4-FFF2-40B4-BE49-F238E27FC236}">
                <a16:creationId xmlns:a16="http://schemas.microsoft.com/office/drawing/2014/main" id="{0208E776-E087-67F7-C9F4-B76D944E82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2686" y="49533"/>
            <a:ext cx="1293571" cy="8123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63EBB6E-5B73-1775-F536-AEDB441AA3D6}"/>
              </a:ext>
            </a:extLst>
          </p:cNvPr>
          <p:cNvSpPr txBox="1"/>
          <p:nvPr/>
        </p:nvSpPr>
        <p:spPr>
          <a:xfrm>
            <a:off x="223935" y="1129004"/>
            <a:ext cx="11691257" cy="5035225"/>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TECHNOLOGY STACK</a:t>
            </a:r>
            <a:endParaRPr lang="en-IN" b="1" dirty="0">
              <a:latin typeface="Times New Roman" panose="02020603050405020304" pitchFamily="18" charset="0"/>
              <a:cs typeface="Times New Roman" panose="02020603050405020304" pitchFamily="18" charset="0"/>
            </a:endParaRPr>
          </a:p>
          <a:p>
            <a:r>
              <a:rPr lang="en-US" sz="1600" b="1" dirty="0">
                <a:latin typeface="Times New Roman"/>
                <a:ea typeface="Times New Roman"/>
                <a:cs typeface="Times New Roman"/>
                <a:sym typeface="Times New Roman"/>
              </a:rPr>
              <a:t>Core Components:</a:t>
            </a:r>
          </a:p>
          <a:p>
            <a:pPr marL="457200" lvl="0" indent="-342900" algn="just" rtl="0">
              <a:lnSpc>
                <a:spcPct val="115000"/>
              </a:lnSpc>
              <a:spcBef>
                <a:spcPts val="1200"/>
              </a:spcBef>
              <a:spcAft>
                <a:spcPts val="0"/>
              </a:spcAft>
              <a:buSzPts val="1800"/>
              <a:buFont typeface="Times New Roman"/>
              <a:buAutoNum type="arabicPeriod"/>
            </a:pPr>
            <a:r>
              <a:rPr lang="en-US" sz="1600" b="1" dirty="0">
                <a:latin typeface="Times New Roman"/>
                <a:ea typeface="Times New Roman"/>
                <a:cs typeface="Times New Roman"/>
                <a:sym typeface="Times New Roman"/>
              </a:rPr>
              <a:t>Frontend Development:</a:t>
            </a:r>
          </a:p>
          <a:p>
            <a:pPr marL="914400" lvl="1" indent="-342900" algn="just" rtl="0">
              <a:lnSpc>
                <a:spcPct val="115000"/>
              </a:lnSpc>
              <a:spcBef>
                <a:spcPts val="0"/>
              </a:spcBef>
              <a:spcAft>
                <a:spcPts val="0"/>
              </a:spcAft>
              <a:buSzPts val="1800"/>
              <a:buChar char="○"/>
            </a:pPr>
            <a:r>
              <a:rPr lang="en-US" sz="1600" dirty="0">
                <a:latin typeface="Times New Roman"/>
                <a:ea typeface="Times New Roman"/>
                <a:cs typeface="Times New Roman"/>
                <a:sym typeface="Times New Roman"/>
              </a:rPr>
              <a:t>HTML5</a:t>
            </a:r>
            <a:r>
              <a:rPr lang="en-US" sz="1600" b="1" dirty="0">
                <a:latin typeface="Times New Roman"/>
                <a:ea typeface="Times New Roman"/>
                <a:cs typeface="Times New Roman"/>
                <a:sym typeface="Times New Roman"/>
              </a:rPr>
              <a:t>:</a:t>
            </a:r>
            <a:r>
              <a:rPr lang="en-US" sz="1600" dirty="0">
                <a:latin typeface="Times New Roman"/>
                <a:ea typeface="Times New Roman"/>
                <a:cs typeface="Times New Roman"/>
                <a:sym typeface="Times New Roman"/>
              </a:rPr>
              <a:t> Structure of the web pages.</a:t>
            </a:r>
          </a:p>
          <a:p>
            <a:pPr marL="914400" lvl="1" indent="-342900" algn="just" rtl="0">
              <a:lnSpc>
                <a:spcPct val="115000"/>
              </a:lnSpc>
              <a:spcBef>
                <a:spcPts val="0"/>
              </a:spcBef>
              <a:spcAft>
                <a:spcPts val="0"/>
              </a:spcAft>
              <a:buSzPts val="1800"/>
              <a:buChar char="○"/>
            </a:pPr>
            <a:r>
              <a:rPr lang="en-US" sz="1600" dirty="0">
                <a:latin typeface="Times New Roman"/>
                <a:ea typeface="Times New Roman"/>
                <a:cs typeface="Times New Roman"/>
                <a:sym typeface="Times New Roman"/>
              </a:rPr>
              <a:t>CSS</a:t>
            </a:r>
            <a:r>
              <a:rPr lang="en-US" sz="1600" b="1" dirty="0">
                <a:latin typeface="Times New Roman"/>
                <a:ea typeface="Times New Roman"/>
                <a:cs typeface="Times New Roman"/>
                <a:sym typeface="Times New Roman"/>
              </a:rPr>
              <a:t>:</a:t>
            </a:r>
            <a:r>
              <a:rPr lang="en-US" sz="1600" dirty="0">
                <a:latin typeface="Times New Roman"/>
                <a:ea typeface="Times New Roman"/>
                <a:cs typeface="Times New Roman"/>
                <a:sym typeface="Times New Roman"/>
              </a:rPr>
              <a:t> Styling and layout for an interactive user interface.</a:t>
            </a:r>
          </a:p>
          <a:p>
            <a:pPr marL="914400" lvl="1" indent="-342900" algn="just" rtl="0">
              <a:lnSpc>
                <a:spcPct val="115000"/>
              </a:lnSpc>
              <a:spcBef>
                <a:spcPts val="0"/>
              </a:spcBef>
              <a:spcAft>
                <a:spcPts val="0"/>
              </a:spcAft>
              <a:buSzPts val="1800"/>
              <a:buChar char="○"/>
            </a:pPr>
            <a:r>
              <a:rPr lang="en-US" sz="1600" dirty="0">
                <a:latin typeface="Times New Roman"/>
                <a:ea typeface="Times New Roman"/>
                <a:cs typeface="Times New Roman"/>
                <a:sym typeface="Times New Roman"/>
              </a:rPr>
              <a:t>JavaScript</a:t>
            </a:r>
            <a:r>
              <a:rPr lang="en-US" sz="1600" b="1" dirty="0">
                <a:latin typeface="Times New Roman"/>
                <a:ea typeface="Times New Roman"/>
                <a:cs typeface="Times New Roman"/>
                <a:sym typeface="Times New Roman"/>
              </a:rPr>
              <a:t>:</a:t>
            </a:r>
            <a:r>
              <a:rPr lang="en-US" sz="1600" dirty="0">
                <a:latin typeface="Times New Roman"/>
                <a:ea typeface="Times New Roman"/>
                <a:cs typeface="Times New Roman"/>
                <a:sym typeface="Times New Roman"/>
              </a:rPr>
              <a:t> Provides dynamic content and improves user experience.</a:t>
            </a:r>
          </a:p>
          <a:p>
            <a:pPr marL="457200" lvl="0" indent="-342900" algn="just" rtl="0">
              <a:lnSpc>
                <a:spcPct val="115000"/>
              </a:lnSpc>
              <a:spcBef>
                <a:spcPts val="0"/>
              </a:spcBef>
              <a:spcAft>
                <a:spcPts val="0"/>
              </a:spcAft>
              <a:buSzPts val="1800"/>
              <a:buFont typeface="Times New Roman"/>
              <a:buAutoNum type="arabicPeriod"/>
            </a:pPr>
            <a:r>
              <a:rPr lang="en-US" sz="1600" b="1" dirty="0">
                <a:latin typeface="Times New Roman"/>
                <a:ea typeface="Times New Roman"/>
                <a:cs typeface="Times New Roman"/>
                <a:sym typeface="Times New Roman"/>
              </a:rPr>
              <a:t>Backend Development:</a:t>
            </a:r>
          </a:p>
          <a:p>
            <a:pPr marL="914400" lvl="1" indent="-342900" algn="just" rtl="0">
              <a:lnSpc>
                <a:spcPct val="115000"/>
              </a:lnSpc>
              <a:spcBef>
                <a:spcPts val="0"/>
              </a:spcBef>
              <a:spcAft>
                <a:spcPts val="0"/>
              </a:spcAft>
              <a:buSzPts val="1800"/>
              <a:buFont typeface="Times New Roman"/>
              <a:buChar char="○"/>
            </a:pPr>
            <a:r>
              <a:rPr lang="en-US" sz="1600" dirty="0">
                <a:latin typeface="Times New Roman"/>
                <a:ea typeface="Times New Roman"/>
                <a:cs typeface="Times New Roman"/>
                <a:sym typeface="Times New Roman"/>
              </a:rPr>
              <a:t>Flask (Python):</a:t>
            </a:r>
          </a:p>
          <a:p>
            <a:pPr marL="1371600" lvl="2" indent="-342900" algn="just" rtl="0">
              <a:lnSpc>
                <a:spcPct val="115000"/>
              </a:lnSpc>
              <a:spcBef>
                <a:spcPts val="0"/>
              </a:spcBef>
              <a:spcAft>
                <a:spcPts val="0"/>
              </a:spcAft>
              <a:buSzPts val="1800"/>
              <a:buFont typeface="Times New Roman"/>
              <a:buChar char="■"/>
            </a:pPr>
            <a:r>
              <a:rPr lang="en-US" sz="1600" dirty="0">
                <a:latin typeface="Times New Roman"/>
                <a:ea typeface="Times New Roman"/>
                <a:cs typeface="Times New Roman"/>
                <a:sym typeface="Times New Roman"/>
              </a:rPr>
              <a:t>Lightweight and efficient framework for building web applications.</a:t>
            </a:r>
          </a:p>
          <a:p>
            <a:pPr marL="1371600" lvl="2" indent="-342900" algn="just" rtl="0">
              <a:lnSpc>
                <a:spcPct val="115000"/>
              </a:lnSpc>
              <a:spcBef>
                <a:spcPts val="0"/>
              </a:spcBef>
              <a:spcAft>
                <a:spcPts val="0"/>
              </a:spcAft>
              <a:buSzPts val="1800"/>
              <a:buFont typeface="Times New Roman"/>
              <a:buChar char="■"/>
            </a:pPr>
            <a:r>
              <a:rPr lang="en-US" sz="1600" dirty="0">
                <a:latin typeface="Times New Roman"/>
                <a:ea typeface="Times New Roman"/>
                <a:cs typeface="Times New Roman"/>
                <a:sym typeface="Times New Roman"/>
              </a:rPr>
              <a:t>Facilitates communication between the web interface and the AI model.</a:t>
            </a:r>
          </a:p>
          <a:p>
            <a:pPr marL="457200" lvl="0" indent="-342900" algn="just" rtl="0">
              <a:lnSpc>
                <a:spcPct val="115000"/>
              </a:lnSpc>
              <a:spcBef>
                <a:spcPts val="0"/>
              </a:spcBef>
              <a:spcAft>
                <a:spcPts val="0"/>
              </a:spcAft>
              <a:buSzPts val="1800"/>
              <a:buFont typeface="Times New Roman"/>
              <a:buAutoNum type="arabicPeriod"/>
            </a:pPr>
            <a:r>
              <a:rPr lang="en-US" sz="1600" b="1" dirty="0">
                <a:latin typeface="Times New Roman"/>
                <a:ea typeface="Times New Roman"/>
                <a:cs typeface="Times New Roman"/>
                <a:sym typeface="Times New Roman"/>
              </a:rPr>
              <a:t>AI and Image Processing:</a:t>
            </a:r>
          </a:p>
          <a:p>
            <a:pPr marL="914400" lvl="1" indent="-342900" algn="just" rtl="0">
              <a:lnSpc>
                <a:spcPct val="115000"/>
              </a:lnSpc>
              <a:spcBef>
                <a:spcPts val="0"/>
              </a:spcBef>
              <a:spcAft>
                <a:spcPts val="0"/>
              </a:spcAft>
              <a:buSzPts val="1800"/>
              <a:buChar char="○"/>
            </a:pPr>
            <a:r>
              <a:rPr lang="en-US" sz="1600" dirty="0">
                <a:latin typeface="Times New Roman"/>
                <a:ea typeface="Times New Roman"/>
                <a:cs typeface="Times New Roman"/>
                <a:sym typeface="Times New Roman"/>
              </a:rPr>
              <a:t>TensorFlow, </a:t>
            </a:r>
            <a:r>
              <a:rPr lang="en-US" sz="1600" dirty="0" err="1">
                <a:latin typeface="Times New Roman"/>
                <a:ea typeface="Times New Roman"/>
                <a:cs typeface="Times New Roman"/>
                <a:sym typeface="Times New Roman"/>
              </a:rPr>
              <a:t>PyTorch</a:t>
            </a:r>
            <a:r>
              <a:rPr lang="en-US" sz="1600" dirty="0">
                <a:latin typeface="Times New Roman"/>
                <a:ea typeface="Times New Roman"/>
                <a:cs typeface="Times New Roman"/>
                <a:sym typeface="Times New Roman"/>
              </a:rPr>
              <a:t>, </a:t>
            </a:r>
            <a:r>
              <a:rPr lang="en-US" sz="1600" dirty="0" err="1">
                <a:latin typeface="Times New Roman"/>
                <a:ea typeface="Times New Roman"/>
                <a:cs typeface="Times New Roman"/>
                <a:sym typeface="Times New Roman"/>
              </a:rPr>
              <a:t>TorchVision</a:t>
            </a:r>
            <a:r>
              <a:rPr lang="en-US" sz="1600" dirty="0">
                <a:latin typeface="Times New Roman"/>
                <a:ea typeface="Times New Roman"/>
                <a:cs typeface="Times New Roman"/>
                <a:sym typeface="Times New Roman"/>
              </a:rPr>
              <a:t> and Pillow: Implement deep learning models for image classification.</a:t>
            </a:r>
          </a:p>
          <a:p>
            <a:pPr marL="0" lvl="0" indent="0" algn="just" rtl="0">
              <a:lnSpc>
                <a:spcPct val="115000"/>
              </a:lnSpc>
              <a:spcBef>
                <a:spcPts val="1200"/>
              </a:spcBef>
              <a:spcAft>
                <a:spcPts val="0"/>
              </a:spcAft>
              <a:buClr>
                <a:schemeClr val="dk1"/>
              </a:buClr>
              <a:buSzPts val="1100"/>
              <a:buFont typeface="Arial"/>
              <a:buNone/>
            </a:pPr>
            <a:r>
              <a:rPr lang="en-US" sz="1600" b="1" dirty="0">
                <a:latin typeface="Times New Roman"/>
                <a:ea typeface="Times New Roman"/>
                <a:cs typeface="Times New Roman"/>
                <a:sym typeface="Times New Roman"/>
              </a:rPr>
              <a:t>  Integration:</a:t>
            </a:r>
          </a:p>
          <a:p>
            <a:pPr marL="457200" lvl="0" indent="-342900" algn="just" rtl="0">
              <a:lnSpc>
                <a:spcPct val="115000"/>
              </a:lnSpc>
              <a:spcBef>
                <a:spcPts val="1200"/>
              </a:spcBef>
              <a:spcAft>
                <a:spcPts val="0"/>
              </a:spcAft>
              <a:buSzPts val="1800"/>
              <a:buFont typeface="Times New Roman"/>
              <a:buChar char="●"/>
            </a:pPr>
            <a:r>
              <a:rPr lang="en-US" sz="1600" dirty="0">
                <a:latin typeface="Times New Roman"/>
                <a:ea typeface="Times New Roman"/>
                <a:cs typeface="Times New Roman"/>
                <a:sym typeface="Times New Roman"/>
              </a:rPr>
              <a:t>The frontend will communicate with the backend (Flask) to send OCT images for analysis.</a:t>
            </a:r>
          </a:p>
          <a:p>
            <a:pPr marL="457200" lvl="0" indent="-342900" algn="just" rtl="0">
              <a:lnSpc>
                <a:spcPct val="115000"/>
              </a:lnSpc>
              <a:spcBef>
                <a:spcPts val="0"/>
              </a:spcBef>
              <a:spcAft>
                <a:spcPts val="0"/>
              </a:spcAft>
              <a:buSzPts val="1800"/>
              <a:buFont typeface="Times New Roman"/>
              <a:buChar char="●"/>
            </a:pPr>
            <a:r>
              <a:rPr lang="en-US" sz="1600" dirty="0">
                <a:latin typeface="Times New Roman"/>
                <a:ea typeface="Times New Roman"/>
                <a:cs typeface="Times New Roman"/>
                <a:sym typeface="Times New Roman"/>
              </a:rPr>
              <a:t>The backend processes the images using the CNN model and returns the results (normal/abnormal classification) to the frontend.</a:t>
            </a:r>
          </a:p>
          <a:p>
            <a:pPr algn="ct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235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
            <a:ext cx="12192001" cy="900753"/>
          </a:xfrm>
          <a:solidFill>
            <a:schemeClr val="bg1"/>
          </a:solidFill>
          <a:ln>
            <a:solidFill>
              <a:srgbClr val="CC3300"/>
            </a:solidFill>
          </a:ln>
        </p:spPr>
        <p:txBody>
          <a:bodyPr>
            <a:normAutofit/>
          </a:bodyPr>
          <a:lstStyle/>
          <a:p>
            <a:r>
              <a:rPr lang="en-US" sz="1600" b="1" dirty="0">
                <a:latin typeface="Times New Roman"/>
                <a:ea typeface="Times New Roman"/>
                <a:cs typeface="Times New Roman"/>
                <a:sym typeface="Times New Roman"/>
              </a:rPr>
              <a:t>Retinal Disease Detection and Classification Using Convolutional Neural Networks and </a:t>
            </a:r>
            <a:br>
              <a:rPr lang="en-US" sz="1600" b="1" dirty="0">
                <a:latin typeface="Times New Roman"/>
                <a:ea typeface="Times New Roman"/>
                <a:cs typeface="Times New Roman"/>
                <a:sym typeface="Times New Roman"/>
              </a:rPr>
            </a:br>
            <a:r>
              <a:rPr lang="en-US" sz="1600" b="1" dirty="0">
                <a:latin typeface="Times New Roman"/>
                <a:ea typeface="Times New Roman"/>
                <a:cs typeface="Times New Roman"/>
                <a:sym typeface="Times New Roman"/>
              </a:rPr>
              <a:t>Transfer Learning</a:t>
            </a:r>
            <a:br>
              <a:rPr lang="en-US" sz="16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Paper ID:-338</a:t>
            </a:r>
            <a:endParaRPr lang="en-IN" sz="2000" dirty="0">
              <a:latin typeface="Times New Roman" panose="02020603050405020304" pitchFamily="18" charset="0"/>
              <a:cs typeface="Times New Roman" panose="02020603050405020304" pitchFamily="18" charset="0"/>
            </a:endParaRPr>
          </a:p>
        </p:txBody>
      </p:sp>
      <p:sp>
        <p:nvSpPr>
          <p:cNvPr id="12" name="Rectangle 11"/>
          <p:cNvSpPr/>
          <p:nvPr/>
        </p:nvSpPr>
        <p:spPr>
          <a:xfrm>
            <a:off x="-1" y="6045693"/>
            <a:ext cx="12191999" cy="8123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b="1" i="1" dirty="0">
                <a:solidFill>
                  <a:srgbClr val="000000"/>
                </a:solidFill>
                <a:latin typeface="Times New Roman" panose="02020603050405020304" pitchFamily="18" charset="0"/>
              </a:rPr>
              <a:t>    </a:t>
            </a:r>
            <a:r>
              <a:rPr lang="en-US" sz="1800" b="1" i="0" dirty="0">
                <a:solidFill>
                  <a:srgbClr val="212121"/>
                </a:solidFill>
                <a:effectLst/>
                <a:latin typeface="Lato"/>
              </a:rPr>
              <a:t>International Conference on Advanced Research in Electronics and Communication Systems </a:t>
            </a:r>
            <a:endParaRPr lang="en-US" sz="1800" b="0" i="0" dirty="0">
              <a:solidFill>
                <a:srgbClr val="212121"/>
              </a:solidFill>
              <a:effectLst/>
              <a:latin typeface="Lato"/>
            </a:endParaRPr>
          </a:p>
          <a:p>
            <a:pPr algn="ctr" rtl="0"/>
            <a:r>
              <a:rPr lang="en-US" sz="1800" b="0" i="0" dirty="0">
                <a:solidFill>
                  <a:srgbClr val="212121"/>
                </a:solidFill>
                <a:effectLst/>
                <a:latin typeface="Lato"/>
              </a:rPr>
              <a:t>(</a:t>
            </a:r>
            <a:r>
              <a:rPr lang="en-US" sz="1800" b="1" i="1" dirty="0">
                <a:solidFill>
                  <a:srgbClr val="212121"/>
                </a:solidFill>
                <a:effectLst/>
                <a:latin typeface="Lato"/>
              </a:rPr>
              <a:t>ICARECS-2025</a:t>
            </a:r>
            <a:r>
              <a:rPr lang="en-US" sz="1800" b="0" i="0" dirty="0">
                <a:solidFill>
                  <a:srgbClr val="212121"/>
                </a:solidFill>
                <a:effectLst/>
                <a:latin typeface="Lato"/>
              </a:rPr>
              <a:t>) </a:t>
            </a:r>
          </a:p>
          <a:p>
            <a:pPr algn="ctr"/>
            <a:r>
              <a:rPr lang="en-US" sz="1600" b="1" i="1" dirty="0">
                <a:solidFill>
                  <a:srgbClr val="FF0000"/>
                </a:solidFill>
                <a:latin typeface="Times New Roman" panose="02020603050405020304" pitchFamily="18" charset="0"/>
              </a:rPr>
              <a:t>(26-27 February, 2025)</a:t>
            </a:r>
            <a:endParaRPr lang="en-IN" sz="1600" b="1" i="1" dirty="0">
              <a:solidFill>
                <a:srgbClr val="FF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E8CA1451-7456-D917-D1B7-6C3ABD478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29" y="38912"/>
            <a:ext cx="1967047" cy="828311"/>
          </a:xfrm>
          <a:prstGeom prst="rect">
            <a:avLst/>
          </a:prstGeom>
        </p:spPr>
      </p:pic>
      <p:pic>
        <p:nvPicPr>
          <p:cNvPr id="1026" name="Picture 2">
            <a:extLst>
              <a:ext uri="{FF2B5EF4-FFF2-40B4-BE49-F238E27FC236}">
                <a16:creationId xmlns:a16="http://schemas.microsoft.com/office/drawing/2014/main" id="{0208E776-E087-67F7-C9F4-B76D944E82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2686" y="49533"/>
            <a:ext cx="1293571" cy="8123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2EBABAF-9FA9-C38F-E1F8-2E90961C937D}"/>
              </a:ext>
            </a:extLst>
          </p:cNvPr>
          <p:cNvSpPr txBox="1"/>
          <p:nvPr/>
        </p:nvSpPr>
        <p:spPr>
          <a:xfrm>
            <a:off x="167951" y="1156995"/>
            <a:ext cx="11868306" cy="5201424"/>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RESULTS</a:t>
            </a:r>
          </a:p>
          <a:p>
            <a:pPr algn="just">
              <a:lnSpc>
                <a:spcPct val="150000"/>
              </a:lnSpc>
            </a:pPr>
            <a:r>
              <a:rPr lang="en-US" sz="1600" b="0" i="0" dirty="0">
                <a:effectLst/>
                <a:latin typeface="Times New Roman" panose="02020603050405020304" pitchFamily="18" charset="0"/>
                <a:cs typeface="Times New Roman" panose="02020603050405020304" pitchFamily="18" charset="0"/>
              </a:rPr>
              <a:t>The deep models used in the project were compared based on classification accuracy of OCT images into normal and AMD classes. The performance measures used to evaluate the performance of the models are accuracy, computational cost, and dataset variation robustness. Both binary classification (sorting images between AMD and normal) and multiclass classification experiments were performed.</a:t>
            </a:r>
          </a:p>
          <a:p>
            <a:pPr algn="just"/>
            <a:endParaRPr lang="en-US" sz="1600" b="0" i="0" dirty="0">
              <a:effectLst/>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Accuracy</a:t>
            </a:r>
            <a:r>
              <a:rPr lang="en-US" sz="1600" dirty="0">
                <a:latin typeface="Times New Roman" panose="02020603050405020304" pitchFamily="18" charset="0"/>
                <a:cs typeface="Times New Roman" panose="02020603050405020304" pitchFamily="18" charset="0"/>
              </a:rPr>
              <a:t>: The deep learning models achieved high accuracy in classifying OCT images into AMD and normal categories, with the binary classification model performing better than the multiclass classification model.</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Binary Classification Results</a:t>
            </a:r>
            <a:r>
              <a:rPr lang="en-US" sz="1600" dirty="0">
                <a:latin typeface="Times New Roman" panose="02020603050405020304" pitchFamily="18" charset="0"/>
                <a:cs typeface="Times New Roman" panose="02020603050405020304" pitchFamily="18" charset="0"/>
              </a:rPr>
              <a:t>: The model attained an accuracy of 100%, effectively in the Normal-CNV category with high sensitivity and specificity.</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Multiclass Classification Results</a:t>
            </a:r>
            <a:r>
              <a:rPr lang="en-US" sz="1600" dirty="0">
                <a:latin typeface="Times New Roman" panose="02020603050405020304" pitchFamily="18" charset="0"/>
                <a:cs typeface="Times New Roman" panose="02020603050405020304" pitchFamily="18" charset="0"/>
              </a:rPr>
              <a:t>: When classifying images into multiple categories, the model achieved an accuracy of 98%, with challenges in differentiating between certain retinal conditions..</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Real-Time Integration</a:t>
            </a:r>
            <a:r>
              <a:rPr lang="en-US" sz="1600" dirty="0">
                <a:latin typeface="Times New Roman" panose="02020603050405020304" pitchFamily="18" charset="0"/>
                <a:cs typeface="Times New Roman" panose="02020603050405020304" pitchFamily="18" charset="0"/>
              </a:rPr>
              <a:t>: The trained model was designed to be deployable in real-time clinical settings, assisting ophthalmologists in early detection of AMD through an automated diagnosis system.</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just"/>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117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
            <a:ext cx="12192001" cy="900753"/>
          </a:xfrm>
          <a:solidFill>
            <a:schemeClr val="bg1"/>
          </a:solidFill>
          <a:ln>
            <a:solidFill>
              <a:srgbClr val="CC3300"/>
            </a:solidFill>
          </a:ln>
        </p:spPr>
        <p:txBody>
          <a:bodyPr>
            <a:normAutofit/>
          </a:bodyPr>
          <a:lstStyle/>
          <a:p>
            <a:r>
              <a:rPr lang="en-US" sz="1600" b="1" dirty="0">
                <a:latin typeface="Times New Roman"/>
                <a:ea typeface="Times New Roman"/>
                <a:cs typeface="Times New Roman"/>
                <a:sym typeface="Times New Roman"/>
              </a:rPr>
              <a:t>Retinal Disease Detection and Classification Using Convolutional Neural Networks and </a:t>
            </a:r>
            <a:br>
              <a:rPr lang="en-US" sz="1600" b="1" dirty="0">
                <a:latin typeface="Times New Roman"/>
                <a:ea typeface="Times New Roman"/>
                <a:cs typeface="Times New Roman"/>
                <a:sym typeface="Times New Roman"/>
              </a:rPr>
            </a:br>
            <a:r>
              <a:rPr lang="en-US" sz="1600" b="1" dirty="0">
                <a:latin typeface="Times New Roman"/>
                <a:ea typeface="Times New Roman"/>
                <a:cs typeface="Times New Roman"/>
                <a:sym typeface="Times New Roman"/>
              </a:rPr>
              <a:t>Transfer Learning</a:t>
            </a:r>
            <a:br>
              <a:rPr lang="en-US" sz="16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Paper ID:-338</a:t>
            </a:r>
            <a:endParaRPr lang="en-IN" sz="2000" dirty="0">
              <a:latin typeface="Times New Roman" panose="02020603050405020304" pitchFamily="18" charset="0"/>
              <a:cs typeface="Times New Roman" panose="02020603050405020304" pitchFamily="18" charset="0"/>
            </a:endParaRPr>
          </a:p>
        </p:txBody>
      </p:sp>
      <p:sp>
        <p:nvSpPr>
          <p:cNvPr id="12" name="Rectangle 11"/>
          <p:cNvSpPr/>
          <p:nvPr/>
        </p:nvSpPr>
        <p:spPr>
          <a:xfrm>
            <a:off x="-1" y="6045693"/>
            <a:ext cx="12191999" cy="8123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b="1" i="1" dirty="0">
                <a:solidFill>
                  <a:srgbClr val="000000"/>
                </a:solidFill>
                <a:latin typeface="Times New Roman" panose="02020603050405020304" pitchFamily="18" charset="0"/>
              </a:rPr>
              <a:t>    </a:t>
            </a:r>
            <a:r>
              <a:rPr lang="en-US" sz="1800" b="1" i="0" dirty="0">
                <a:solidFill>
                  <a:srgbClr val="212121"/>
                </a:solidFill>
                <a:effectLst/>
                <a:latin typeface="Lato"/>
              </a:rPr>
              <a:t>International Conference on Advanced Research in Electronics and Communication Systems </a:t>
            </a:r>
            <a:endParaRPr lang="en-US" sz="1800" b="0" i="0" dirty="0">
              <a:solidFill>
                <a:srgbClr val="212121"/>
              </a:solidFill>
              <a:effectLst/>
              <a:latin typeface="Lato"/>
            </a:endParaRPr>
          </a:p>
          <a:p>
            <a:pPr algn="ctr" rtl="0"/>
            <a:r>
              <a:rPr lang="en-US" sz="1800" b="0" i="0" dirty="0">
                <a:solidFill>
                  <a:srgbClr val="212121"/>
                </a:solidFill>
                <a:effectLst/>
                <a:latin typeface="Lato"/>
              </a:rPr>
              <a:t>(</a:t>
            </a:r>
            <a:r>
              <a:rPr lang="en-US" sz="1800" b="1" i="1" dirty="0">
                <a:solidFill>
                  <a:srgbClr val="212121"/>
                </a:solidFill>
                <a:effectLst/>
                <a:latin typeface="Lato"/>
              </a:rPr>
              <a:t>ICARECS-2025</a:t>
            </a:r>
            <a:r>
              <a:rPr lang="en-US" sz="1800" b="0" i="0" dirty="0">
                <a:solidFill>
                  <a:srgbClr val="212121"/>
                </a:solidFill>
                <a:effectLst/>
                <a:latin typeface="Lato"/>
              </a:rPr>
              <a:t>) </a:t>
            </a:r>
          </a:p>
          <a:p>
            <a:pPr algn="ctr"/>
            <a:r>
              <a:rPr lang="en-US" sz="1600" b="1" i="1" dirty="0">
                <a:solidFill>
                  <a:srgbClr val="FF0000"/>
                </a:solidFill>
                <a:latin typeface="Times New Roman" panose="02020603050405020304" pitchFamily="18" charset="0"/>
              </a:rPr>
              <a:t>(26-27 February, 2025)</a:t>
            </a:r>
            <a:endParaRPr lang="en-IN" sz="1600" b="1" i="1" dirty="0">
              <a:solidFill>
                <a:srgbClr val="FF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E8CA1451-7456-D917-D1B7-6C3ABD478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29" y="38912"/>
            <a:ext cx="1967047" cy="828311"/>
          </a:xfrm>
          <a:prstGeom prst="rect">
            <a:avLst/>
          </a:prstGeom>
        </p:spPr>
      </p:pic>
      <p:pic>
        <p:nvPicPr>
          <p:cNvPr id="1026" name="Picture 2">
            <a:extLst>
              <a:ext uri="{FF2B5EF4-FFF2-40B4-BE49-F238E27FC236}">
                <a16:creationId xmlns:a16="http://schemas.microsoft.com/office/drawing/2014/main" id="{0208E776-E087-67F7-C9F4-B76D944E82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2686" y="49533"/>
            <a:ext cx="1293571" cy="8123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30224F5-2565-7474-CFBD-3A379D1CC499}"/>
              </a:ext>
            </a:extLst>
          </p:cNvPr>
          <p:cNvSpPr txBox="1"/>
          <p:nvPr/>
        </p:nvSpPr>
        <p:spPr>
          <a:xfrm>
            <a:off x="77871" y="998375"/>
            <a:ext cx="12036257" cy="5078313"/>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Cont.</a:t>
            </a: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BAF5ECE-FFF2-5F61-AEA0-CE6D5E510FCC}"/>
              </a:ext>
            </a:extLst>
          </p:cNvPr>
          <p:cNvPicPr>
            <a:picLocks noChangeAspect="1"/>
          </p:cNvPicPr>
          <p:nvPr/>
        </p:nvPicPr>
        <p:blipFill>
          <a:blip r:embed="rId4"/>
          <a:stretch>
            <a:fillRect/>
          </a:stretch>
        </p:blipFill>
        <p:spPr>
          <a:xfrm>
            <a:off x="236028" y="1374287"/>
            <a:ext cx="3501898" cy="2273351"/>
          </a:xfrm>
          <a:prstGeom prst="rect">
            <a:avLst/>
          </a:prstGeom>
          <a:ln>
            <a:solidFill>
              <a:schemeClr val="tx1"/>
            </a:solidFill>
          </a:ln>
        </p:spPr>
      </p:pic>
      <p:pic>
        <p:nvPicPr>
          <p:cNvPr id="9" name="Picture 8">
            <a:extLst>
              <a:ext uri="{FF2B5EF4-FFF2-40B4-BE49-F238E27FC236}">
                <a16:creationId xmlns:a16="http://schemas.microsoft.com/office/drawing/2014/main" id="{E69F9757-E820-A145-790F-972E934AD342}"/>
              </a:ext>
            </a:extLst>
          </p:cNvPr>
          <p:cNvPicPr>
            <a:picLocks noChangeAspect="1"/>
          </p:cNvPicPr>
          <p:nvPr/>
        </p:nvPicPr>
        <p:blipFill>
          <a:blip r:embed="rId5"/>
          <a:stretch>
            <a:fillRect/>
          </a:stretch>
        </p:blipFill>
        <p:spPr>
          <a:xfrm>
            <a:off x="4087676" y="1086803"/>
            <a:ext cx="3283508" cy="2698090"/>
          </a:xfrm>
          <a:prstGeom prst="rect">
            <a:avLst/>
          </a:prstGeom>
          <a:ln>
            <a:solidFill>
              <a:schemeClr val="tx1"/>
            </a:solidFill>
          </a:ln>
        </p:spPr>
      </p:pic>
      <p:pic>
        <p:nvPicPr>
          <p:cNvPr id="10" name="Google Shape;315;p34">
            <a:extLst>
              <a:ext uri="{FF2B5EF4-FFF2-40B4-BE49-F238E27FC236}">
                <a16:creationId xmlns:a16="http://schemas.microsoft.com/office/drawing/2014/main" id="{437E5227-1DDB-CD50-C9ED-091F58D16A72}"/>
              </a:ext>
            </a:extLst>
          </p:cNvPr>
          <p:cNvPicPr preferRelativeResize="0"/>
          <p:nvPr/>
        </p:nvPicPr>
        <p:blipFill>
          <a:blip r:embed="rId6">
            <a:alphaModFix/>
          </a:blip>
          <a:stretch>
            <a:fillRect/>
          </a:stretch>
        </p:blipFill>
        <p:spPr>
          <a:xfrm>
            <a:off x="7800339" y="1086803"/>
            <a:ext cx="3368404" cy="2698090"/>
          </a:xfrm>
          <a:prstGeom prst="rect">
            <a:avLst/>
          </a:prstGeom>
          <a:noFill/>
          <a:ln>
            <a:solidFill>
              <a:schemeClr val="tx1"/>
            </a:solidFill>
          </a:ln>
        </p:spPr>
      </p:pic>
      <p:sp>
        <p:nvSpPr>
          <p:cNvPr id="11" name="TextBox 10">
            <a:extLst>
              <a:ext uri="{FF2B5EF4-FFF2-40B4-BE49-F238E27FC236}">
                <a16:creationId xmlns:a16="http://schemas.microsoft.com/office/drawing/2014/main" id="{8394191B-F112-E896-790F-2D481BB3EFBE}"/>
              </a:ext>
            </a:extLst>
          </p:cNvPr>
          <p:cNvSpPr txBox="1"/>
          <p:nvPr/>
        </p:nvSpPr>
        <p:spPr>
          <a:xfrm>
            <a:off x="156181" y="4422152"/>
            <a:ext cx="11879634" cy="1815882"/>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Inference:</a:t>
            </a:r>
            <a:r>
              <a:rPr lang="en-US" sz="1600" dirty="0">
                <a:latin typeface="Times New Roman" panose="02020603050405020304" pitchFamily="18" charset="0"/>
                <a:cs typeface="Times New Roman" panose="02020603050405020304" pitchFamily="18" charset="0"/>
              </a:rPr>
              <a:t> In our study, we evaluated multiple deep learning models, including CNN, ResNet50, </a:t>
            </a:r>
            <a:r>
              <a:rPr lang="en-US" sz="1600" dirty="0" err="1">
                <a:latin typeface="Times New Roman" panose="02020603050405020304" pitchFamily="18" charset="0"/>
                <a:cs typeface="Times New Roman" panose="02020603050405020304" pitchFamily="18" charset="0"/>
              </a:rPr>
              <a:t>GoogleNet</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DenseNet</a:t>
            </a:r>
            <a:r>
              <a:rPr lang="en-US" sz="1600" dirty="0">
                <a:latin typeface="Times New Roman" panose="02020603050405020304" pitchFamily="18" charset="0"/>
                <a:cs typeface="Times New Roman" panose="02020603050405020304" pitchFamily="18" charset="0"/>
              </a:rPr>
              <a:t>, for multiclass classification of OCT images. After extensive testing, </a:t>
            </a:r>
            <a:r>
              <a:rPr lang="en-US" sz="1600" dirty="0" err="1">
                <a:latin typeface="Times New Roman" panose="02020603050405020304" pitchFamily="18" charset="0"/>
                <a:cs typeface="Times New Roman" panose="02020603050405020304" pitchFamily="18" charset="0"/>
              </a:rPr>
              <a:t>DenseNet</a:t>
            </a:r>
            <a:r>
              <a:rPr lang="en-US" sz="1600" dirty="0">
                <a:latin typeface="Times New Roman" panose="02020603050405020304" pitchFamily="18" charset="0"/>
                <a:cs typeface="Times New Roman" panose="02020603050405020304" pitchFamily="18" charset="0"/>
              </a:rPr>
              <a:t> emerged as the best-performing model, achieving the highest accuracy. </a:t>
            </a:r>
          </a:p>
          <a:p>
            <a:pPr>
              <a:lnSpc>
                <a:spcPct val="150000"/>
              </a:lnSpc>
            </a:pPr>
            <a:r>
              <a:rPr lang="en-US" sz="1600" dirty="0">
                <a:latin typeface="Times New Roman" panose="02020603050405020304" pitchFamily="18" charset="0"/>
                <a:cs typeface="Times New Roman" panose="02020603050405020304" pitchFamily="18" charset="0"/>
              </a:rPr>
              <a:t>From the above graphs, it is predicted that the </a:t>
            </a:r>
            <a:r>
              <a:rPr lang="en-US" sz="1600" dirty="0" err="1">
                <a:latin typeface="Times New Roman" panose="02020603050405020304" pitchFamily="18" charset="0"/>
                <a:cs typeface="Times New Roman" panose="02020603050405020304" pitchFamily="18" charset="0"/>
              </a:rPr>
              <a:t>DenseNet</a:t>
            </a:r>
            <a:r>
              <a:rPr lang="en-US" sz="1600" dirty="0">
                <a:latin typeface="Times New Roman" panose="02020603050405020304" pitchFamily="18" charset="0"/>
                <a:cs typeface="Times New Roman" panose="02020603050405020304" pitchFamily="18" charset="0"/>
              </a:rPr>
              <a:t> has the largest accuracy as compared with others achieving total accuracy of 98% with respectively accuracy and loss.</a:t>
            </a:r>
          </a:p>
          <a:p>
            <a:endParaRPr lang="en-IN" sz="16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18F2392-3D67-00EF-0EED-4E64D2C6424A}"/>
              </a:ext>
            </a:extLst>
          </p:cNvPr>
          <p:cNvSpPr txBox="1"/>
          <p:nvPr/>
        </p:nvSpPr>
        <p:spPr>
          <a:xfrm>
            <a:off x="454385" y="3745261"/>
            <a:ext cx="3501898"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Figure.2: Multiclass Model </a:t>
            </a:r>
            <a:r>
              <a:rPr lang="en-IN" sz="1400" dirty="0" err="1">
                <a:latin typeface="Times New Roman" panose="02020603050405020304" pitchFamily="18" charset="0"/>
                <a:cs typeface="Times New Roman" panose="02020603050405020304" pitchFamily="18" charset="0"/>
              </a:rPr>
              <a:t>Evaulation</a:t>
            </a:r>
            <a:endParaRPr lang="en-IN" sz="1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F1C1C329-FE0D-087F-0AAA-5E8815750C19}"/>
              </a:ext>
            </a:extLst>
          </p:cNvPr>
          <p:cNvSpPr txBox="1"/>
          <p:nvPr/>
        </p:nvSpPr>
        <p:spPr>
          <a:xfrm>
            <a:off x="4049504" y="3825992"/>
            <a:ext cx="3501898"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Figure.3: Multiclass Model’s Accuracy graph</a:t>
            </a:r>
          </a:p>
        </p:txBody>
      </p:sp>
      <p:sp>
        <p:nvSpPr>
          <p:cNvPr id="16" name="TextBox 15">
            <a:extLst>
              <a:ext uri="{FF2B5EF4-FFF2-40B4-BE49-F238E27FC236}">
                <a16:creationId xmlns:a16="http://schemas.microsoft.com/office/drawing/2014/main" id="{8C2FD250-86A0-801F-92FB-F8E6DD96D81A}"/>
              </a:ext>
            </a:extLst>
          </p:cNvPr>
          <p:cNvSpPr txBox="1"/>
          <p:nvPr/>
        </p:nvSpPr>
        <p:spPr>
          <a:xfrm>
            <a:off x="8142497" y="3845386"/>
            <a:ext cx="3501898"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Figure.4: Multiclass Model’s loss graph</a:t>
            </a:r>
          </a:p>
        </p:txBody>
      </p:sp>
    </p:spTree>
    <p:extLst>
      <p:ext uri="{BB962C8B-B14F-4D97-AF65-F5344CB8AC3E}">
        <p14:creationId xmlns:p14="http://schemas.microsoft.com/office/powerpoint/2010/main" val="3922374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
            <a:ext cx="12192001" cy="900753"/>
          </a:xfrm>
          <a:solidFill>
            <a:schemeClr val="bg1"/>
          </a:solidFill>
          <a:ln>
            <a:solidFill>
              <a:srgbClr val="CC3300"/>
            </a:solidFill>
          </a:ln>
        </p:spPr>
        <p:txBody>
          <a:bodyPr>
            <a:normAutofit/>
          </a:bodyPr>
          <a:lstStyle/>
          <a:p>
            <a:r>
              <a:rPr lang="en-US" sz="1600" b="1" dirty="0">
                <a:latin typeface="Times New Roman"/>
                <a:ea typeface="Times New Roman"/>
                <a:cs typeface="Times New Roman"/>
                <a:sym typeface="Times New Roman"/>
              </a:rPr>
              <a:t>Retinal Disease Detection and Classification Using Convolutional Neural Networks and </a:t>
            </a:r>
            <a:br>
              <a:rPr lang="en-US" sz="1600" b="1" dirty="0">
                <a:latin typeface="Times New Roman"/>
                <a:ea typeface="Times New Roman"/>
                <a:cs typeface="Times New Roman"/>
                <a:sym typeface="Times New Roman"/>
              </a:rPr>
            </a:br>
            <a:r>
              <a:rPr lang="en-US" sz="1600" b="1" dirty="0">
                <a:latin typeface="Times New Roman"/>
                <a:ea typeface="Times New Roman"/>
                <a:cs typeface="Times New Roman"/>
                <a:sym typeface="Times New Roman"/>
              </a:rPr>
              <a:t>Transfer Learning</a:t>
            </a:r>
            <a:br>
              <a:rPr lang="en-US" sz="16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Paper ID:-338</a:t>
            </a:r>
            <a:endParaRPr lang="en-IN" sz="2000" dirty="0">
              <a:latin typeface="Times New Roman" panose="02020603050405020304" pitchFamily="18" charset="0"/>
              <a:cs typeface="Times New Roman" panose="02020603050405020304" pitchFamily="18" charset="0"/>
            </a:endParaRPr>
          </a:p>
        </p:txBody>
      </p:sp>
      <p:sp>
        <p:nvSpPr>
          <p:cNvPr id="12" name="Rectangle 11"/>
          <p:cNvSpPr/>
          <p:nvPr/>
        </p:nvSpPr>
        <p:spPr>
          <a:xfrm>
            <a:off x="-1" y="6045693"/>
            <a:ext cx="12191999" cy="8123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b="1" i="1" dirty="0">
                <a:solidFill>
                  <a:srgbClr val="000000"/>
                </a:solidFill>
                <a:latin typeface="Times New Roman" panose="02020603050405020304" pitchFamily="18" charset="0"/>
              </a:rPr>
              <a:t>    </a:t>
            </a:r>
            <a:r>
              <a:rPr lang="en-US" sz="1800" b="1" i="0" dirty="0">
                <a:solidFill>
                  <a:srgbClr val="212121"/>
                </a:solidFill>
                <a:effectLst/>
                <a:latin typeface="Lato"/>
              </a:rPr>
              <a:t>International Conference on Advanced Research in Electronics and Communication Systems </a:t>
            </a:r>
            <a:endParaRPr lang="en-US" sz="1800" b="0" i="0" dirty="0">
              <a:solidFill>
                <a:srgbClr val="212121"/>
              </a:solidFill>
              <a:effectLst/>
              <a:latin typeface="Lato"/>
            </a:endParaRPr>
          </a:p>
          <a:p>
            <a:pPr algn="ctr" rtl="0"/>
            <a:r>
              <a:rPr lang="en-US" sz="1800" b="0" i="0" dirty="0">
                <a:solidFill>
                  <a:srgbClr val="212121"/>
                </a:solidFill>
                <a:effectLst/>
                <a:latin typeface="Lato"/>
              </a:rPr>
              <a:t>(</a:t>
            </a:r>
            <a:r>
              <a:rPr lang="en-US" sz="1800" b="1" i="1" dirty="0">
                <a:solidFill>
                  <a:srgbClr val="212121"/>
                </a:solidFill>
                <a:effectLst/>
                <a:latin typeface="Lato"/>
              </a:rPr>
              <a:t>ICARECS-2025</a:t>
            </a:r>
            <a:r>
              <a:rPr lang="en-US" sz="1800" b="0" i="0" dirty="0">
                <a:solidFill>
                  <a:srgbClr val="212121"/>
                </a:solidFill>
                <a:effectLst/>
                <a:latin typeface="Lato"/>
              </a:rPr>
              <a:t>) </a:t>
            </a:r>
          </a:p>
          <a:p>
            <a:pPr algn="ctr"/>
            <a:r>
              <a:rPr lang="en-US" sz="1600" b="1" i="1" dirty="0">
                <a:solidFill>
                  <a:srgbClr val="FF0000"/>
                </a:solidFill>
                <a:latin typeface="Times New Roman" panose="02020603050405020304" pitchFamily="18" charset="0"/>
              </a:rPr>
              <a:t>(26-27 February, 2025)</a:t>
            </a:r>
            <a:endParaRPr lang="en-IN" sz="1600" b="1" i="1" dirty="0">
              <a:solidFill>
                <a:srgbClr val="FF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E8CA1451-7456-D917-D1B7-6C3ABD478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29" y="38912"/>
            <a:ext cx="1967047" cy="828311"/>
          </a:xfrm>
          <a:prstGeom prst="rect">
            <a:avLst/>
          </a:prstGeom>
        </p:spPr>
      </p:pic>
      <p:pic>
        <p:nvPicPr>
          <p:cNvPr id="1026" name="Picture 2">
            <a:extLst>
              <a:ext uri="{FF2B5EF4-FFF2-40B4-BE49-F238E27FC236}">
                <a16:creationId xmlns:a16="http://schemas.microsoft.com/office/drawing/2014/main" id="{0208E776-E087-67F7-C9F4-B76D944E82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2686" y="49533"/>
            <a:ext cx="1293571" cy="8123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BF88EA8-6AA5-6C2D-86AE-DE04B2E8E612}"/>
              </a:ext>
            </a:extLst>
          </p:cNvPr>
          <p:cNvSpPr txBox="1"/>
          <p:nvPr/>
        </p:nvSpPr>
        <p:spPr>
          <a:xfrm>
            <a:off x="48229" y="963299"/>
            <a:ext cx="959477"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Cont. </a:t>
            </a:r>
          </a:p>
          <a:p>
            <a:endParaRPr lang="en-IN"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3C24417C-46A6-A2A3-2086-ED0D25422F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623" y="3429000"/>
            <a:ext cx="3833306" cy="2072554"/>
          </a:xfrm>
          <a:prstGeom prst="rect">
            <a:avLst/>
          </a:prstGeom>
          <a:ln>
            <a:solidFill>
              <a:schemeClr val="tx1"/>
            </a:solidFill>
          </a:ln>
        </p:spPr>
      </p:pic>
      <p:pic>
        <p:nvPicPr>
          <p:cNvPr id="17" name="Picture 16">
            <a:extLst>
              <a:ext uri="{FF2B5EF4-FFF2-40B4-BE49-F238E27FC236}">
                <a16:creationId xmlns:a16="http://schemas.microsoft.com/office/drawing/2014/main" id="{90332AA3-5157-0650-40A3-55AD0A398A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05941" y="984535"/>
            <a:ext cx="3514532" cy="4529857"/>
          </a:xfrm>
          <a:prstGeom prst="rect">
            <a:avLst/>
          </a:prstGeom>
        </p:spPr>
      </p:pic>
      <p:pic>
        <p:nvPicPr>
          <p:cNvPr id="20" name="Picture 19">
            <a:extLst>
              <a:ext uri="{FF2B5EF4-FFF2-40B4-BE49-F238E27FC236}">
                <a16:creationId xmlns:a16="http://schemas.microsoft.com/office/drawing/2014/main" id="{F191C322-D7D3-7752-CD5D-EB5EA4F8AC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4778" y="1128598"/>
            <a:ext cx="2700995" cy="2072555"/>
          </a:xfrm>
          <a:prstGeom prst="rect">
            <a:avLst/>
          </a:prstGeom>
        </p:spPr>
      </p:pic>
      <p:sp>
        <p:nvSpPr>
          <p:cNvPr id="21" name="TextBox 20">
            <a:extLst>
              <a:ext uri="{FF2B5EF4-FFF2-40B4-BE49-F238E27FC236}">
                <a16:creationId xmlns:a16="http://schemas.microsoft.com/office/drawing/2014/main" id="{81CCF3BD-1275-2AAB-306A-572C35023851}"/>
              </a:ext>
            </a:extLst>
          </p:cNvPr>
          <p:cNvSpPr txBox="1"/>
          <p:nvPr/>
        </p:nvSpPr>
        <p:spPr>
          <a:xfrm>
            <a:off x="7679094" y="984535"/>
            <a:ext cx="4357163" cy="6647974"/>
          </a:xfrm>
          <a:prstGeom prst="rect">
            <a:avLst/>
          </a:prstGeom>
          <a:noFill/>
        </p:spPr>
        <p:txBody>
          <a:bodyPr wrap="square" rtlCol="0">
            <a:spAutoFit/>
          </a:bodyPr>
          <a:lstStyle/>
          <a:p>
            <a:pPr marL="0" marR="0" lvl="0" indent="0" algn="ctr" defTabSz="914400" rtl="0" eaLnBrk="0" fontAlgn="base" latinLnBrk="0" hangingPunct="0">
              <a:lnSpc>
                <a:spcPct val="150000"/>
              </a:lnSpc>
              <a:spcBef>
                <a:spcPct val="0"/>
              </a:spcBef>
              <a:spcAft>
                <a:spcPct val="0"/>
              </a:spcAft>
              <a:buClrTx/>
              <a:buSzTx/>
              <a:tabLst/>
            </a:pPr>
            <a:r>
              <a:rPr lang="en-US" sz="1600" b="1" u="sng" dirty="0">
                <a:latin typeface="Times New Roman" panose="02020603050405020304" pitchFamily="18" charset="0"/>
                <a:cs typeface="Times New Roman" panose="02020603050405020304" pitchFamily="18" charset="0"/>
              </a:rPr>
              <a:t>Steps to Access Our Web Application:</a:t>
            </a:r>
            <a:endParaRPr kumimoji="0" lang="en-US" altLang="en-US" sz="16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Connect to Wi-Fi</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Ensure your device is connected to the </a:t>
            </a:r>
            <a:r>
              <a:rPr lang="en-US" altLang="en-US" sz="1600" b="1" dirty="0" err="1">
                <a:latin typeface="Times New Roman" panose="02020603050405020304" pitchFamily="18" charset="0"/>
                <a:cs typeface="Times New Roman" panose="02020603050405020304" pitchFamily="18" charset="0"/>
              </a:rPr>
              <a:t>o</a:t>
            </a:r>
            <a:r>
              <a:rPr kumimoji="0" lang="en-US" altLang="en-US" sz="1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cularsense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network.</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Scan the QR Code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 your mobile or laptop to scan the QR code displayed on the slide.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 In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Enter the following credentials: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Username:</a:t>
            </a:r>
            <a:r>
              <a:rPr lang="en-US" altLang="en-US" sz="1600" dirty="0">
                <a:latin typeface="Times New Roman" panose="02020603050405020304" pitchFamily="18" charset="0"/>
                <a:cs typeface="Times New Roman" panose="02020603050405020304" pitchFamily="18" charset="0"/>
              </a:rPr>
              <a:t> admin</a:t>
            </a:r>
            <a:endParaRPr kumimoji="0" lang="en-US" altLang="en-US"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Password:</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900" dirty="0">
                <a:latin typeface="Times New Roman" panose="02020603050405020304" pitchFamily="18" charset="0"/>
                <a:cs typeface="Times New Roman" panose="02020603050405020304" pitchFamily="18" charset="0"/>
              </a:rPr>
              <a:t>123</a:t>
            </a:r>
            <a:endParaRPr kumimoji="0" lang="en-US" altLang="en-US"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Once logged in, you can select multiple OCT scans from the database for prediction. The results will be generated instantaneously, and you can download the predictions as a .txt file for further reference</a:t>
            </a:r>
            <a:r>
              <a:rPr lang="en-US" sz="2000" dirty="0">
                <a:latin typeface="Times New Roman" panose="02020603050405020304" pitchFamily="18" charset="0"/>
                <a:cs typeface="Times New Roman" panose="02020603050405020304" pitchFamily="18" charset="0"/>
              </a:rPr>
              <a:t>. </a:t>
            </a:r>
          </a:p>
          <a:p>
            <a:pPr algn="just"/>
            <a:endParaRPr lang="en-US" dirty="0">
              <a:latin typeface="Times New Roman" panose="02020603050405020304" pitchFamily="18" charset="0"/>
              <a:cs typeface="Times New Roman" panose="02020603050405020304" pitchFamily="18" charset="0"/>
            </a:endParaRPr>
          </a:p>
          <a:p>
            <a:pPr algn="just"/>
            <a:endParaRPr lang="en-IN" dirty="0"/>
          </a:p>
          <a:p>
            <a:endParaRPr lang="en-IN" dirty="0"/>
          </a:p>
          <a:p>
            <a:r>
              <a:rPr lang="en-IN" dirty="0"/>
              <a:t>        </a:t>
            </a:r>
          </a:p>
          <a:p>
            <a:pPr marL="285750" indent="-285750">
              <a:buFont typeface="Arial" panose="020B0604020202020204" pitchFamily="34" charset="0"/>
              <a:buChar char="•"/>
            </a:pPr>
            <a:endParaRPr lang="en-IN" dirty="0"/>
          </a:p>
          <a:p>
            <a:endParaRPr lang="en-IN" dirty="0"/>
          </a:p>
        </p:txBody>
      </p:sp>
      <p:sp>
        <p:nvSpPr>
          <p:cNvPr id="25" name="TextBox 24">
            <a:extLst>
              <a:ext uri="{FF2B5EF4-FFF2-40B4-BE49-F238E27FC236}">
                <a16:creationId xmlns:a16="http://schemas.microsoft.com/office/drawing/2014/main" id="{AA5B88E5-789E-F4EF-A9E8-1E2EF1C30368}"/>
              </a:ext>
            </a:extLst>
          </p:cNvPr>
          <p:cNvSpPr txBox="1"/>
          <p:nvPr/>
        </p:nvSpPr>
        <p:spPr>
          <a:xfrm>
            <a:off x="98622" y="5621215"/>
            <a:ext cx="7914161"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Figure.5: Sample Webapp image                              Figure.6: Output Predictions</a:t>
            </a:r>
          </a:p>
        </p:txBody>
      </p:sp>
    </p:spTree>
    <p:extLst>
      <p:ext uri="{BB962C8B-B14F-4D97-AF65-F5344CB8AC3E}">
        <p14:creationId xmlns:p14="http://schemas.microsoft.com/office/powerpoint/2010/main" val="2329819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
            <a:ext cx="12192001" cy="900753"/>
          </a:xfrm>
          <a:solidFill>
            <a:schemeClr val="bg1"/>
          </a:solidFill>
          <a:ln>
            <a:solidFill>
              <a:srgbClr val="CC3300"/>
            </a:solidFill>
          </a:ln>
        </p:spPr>
        <p:txBody>
          <a:bodyPr>
            <a:normAutofit/>
          </a:bodyPr>
          <a:lstStyle/>
          <a:p>
            <a:r>
              <a:rPr lang="en-US" sz="1600" b="1" dirty="0">
                <a:latin typeface="Times New Roman"/>
                <a:ea typeface="Times New Roman"/>
                <a:cs typeface="Times New Roman"/>
                <a:sym typeface="Times New Roman"/>
              </a:rPr>
              <a:t>Retinal Disease Detection and Classification Using Convolutional Neural Networks and </a:t>
            </a:r>
            <a:br>
              <a:rPr lang="en-US" sz="1600" b="1" dirty="0">
                <a:latin typeface="Times New Roman"/>
                <a:ea typeface="Times New Roman"/>
                <a:cs typeface="Times New Roman"/>
                <a:sym typeface="Times New Roman"/>
              </a:rPr>
            </a:br>
            <a:r>
              <a:rPr lang="en-US" sz="1600" b="1" dirty="0">
                <a:latin typeface="Times New Roman"/>
                <a:ea typeface="Times New Roman"/>
                <a:cs typeface="Times New Roman"/>
                <a:sym typeface="Times New Roman"/>
              </a:rPr>
              <a:t>Transfer Learning</a:t>
            </a:r>
            <a:br>
              <a:rPr lang="en-US" sz="16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Paper ID:-338</a:t>
            </a:r>
            <a:endParaRPr lang="en-IN" sz="2000" dirty="0">
              <a:latin typeface="Times New Roman" panose="02020603050405020304" pitchFamily="18" charset="0"/>
              <a:cs typeface="Times New Roman" panose="02020603050405020304" pitchFamily="18" charset="0"/>
            </a:endParaRPr>
          </a:p>
        </p:txBody>
      </p:sp>
      <p:sp>
        <p:nvSpPr>
          <p:cNvPr id="12" name="Rectangle 11"/>
          <p:cNvSpPr/>
          <p:nvPr/>
        </p:nvSpPr>
        <p:spPr>
          <a:xfrm>
            <a:off x="-1" y="6045693"/>
            <a:ext cx="12191999" cy="8123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b="1" i="1" dirty="0">
                <a:solidFill>
                  <a:srgbClr val="000000"/>
                </a:solidFill>
                <a:latin typeface="Times New Roman" panose="02020603050405020304" pitchFamily="18" charset="0"/>
              </a:rPr>
              <a:t>    </a:t>
            </a:r>
            <a:r>
              <a:rPr lang="en-US" sz="1800" b="1" i="0" dirty="0">
                <a:solidFill>
                  <a:srgbClr val="212121"/>
                </a:solidFill>
                <a:effectLst/>
                <a:latin typeface="Lato"/>
              </a:rPr>
              <a:t>International Conference on Advanced Research in Electronics and Communication Systems </a:t>
            </a:r>
            <a:endParaRPr lang="en-US" sz="1800" b="0" i="0" dirty="0">
              <a:solidFill>
                <a:srgbClr val="212121"/>
              </a:solidFill>
              <a:effectLst/>
              <a:latin typeface="Lato"/>
            </a:endParaRPr>
          </a:p>
          <a:p>
            <a:pPr algn="ctr" rtl="0"/>
            <a:r>
              <a:rPr lang="en-US" sz="1800" b="0" i="0" dirty="0">
                <a:solidFill>
                  <a:srgbClr val="212121"/>
                </a:solidFill>
                <a:effectLst/>
                <a:latin typeface="Lato"/>
              </a:rPr>
              <a:t>(</a:t>
            </a:r>
            <a:r>
              <a:rPr lang="en-US" sz="1800" b="1" i="1" dirty="0">
                <a:solidFill>
                  <a:srgbClr val="212121"/>
                </a:solidFill>
                <a:effectLst/>
                <a:latin typeface="Lato"/>
              </a:rPr>
              <a:t>ICARECS-2025</a:t>
            </a:r>
            <a:r>
              <a:rPr lang="en-US" sz="1800" b="0" i="0" dirty="0">
                <a:solidFill>
                  <a:srgbClr val="212121"/>
                </a:solidFill>
                <a:effectLst/>
                <a:latin typeface="Lato"/>
              </a:rPr>
              <a:t>) </a:t>
            </a:r>
          </a:p>
          <a:p>
            <a:pPr algn="ctr"/>
            <a:r>
              <a:rPr lang="en-US" sz="1600" b="1" i="1" dirty="0">
                <a:solidFill>
                  <a:srgbClr val="FF0000"/>
                </a:solidFill>
                <a:latin typeface="Times New Roman" panose="02020603050405020304" pitchFamily="18" charset="0"/>
              </a:rPr>
              <a:t>(26-27 February, 2025)</a:t>
            </a:r>
            <a:endParaRPr lang="en-IN" sz="1600" b="1" i="1" dirty="0">
              <a:solidFill>
                <a:srgbClr val="FF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E8CA1451-7456-D917-D1B7-6C3ABD478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29" y="38912"/>
            <a:ext cx="1967047" cy="828311"/>
          </a:xfrm>
          <a:prstGeom prst="rect">
            <a:avLst/>
          </a:prstGeom>
        </p:spPr>
      </p:pic>
      <p:pic>
        <p:nvPicPr>
          <p:cNvPr id="1026" name="Picture 2">
            <a:extLst>
              <a:ext uri="{FF2B5EF4-FFF2-40B4-BE49-F238E27FC236}">
                <a16:creationId xmlns:a16="http://schemas.microsoft.com/office/drawing/2014/main" id="{0208E776-E087-67F7-C9F4-B76D944E82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2686" y="49533"/>
            <a:ext cx="1293571" cy="8123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01FDC4F-B24B-E8DC-C327-8E45362ABAB1}"/>
              </a:ext>
            </a:extLst>
          </p:cNvPr>
          <p:cNvSpPr txBox="1"/>
          <p:nvPr/>
        </p:nvSpPr>
        <p:spPr>
          <a:xfrm>
            <a:off x="251927" y="1129004"/>
            <a:ext cx="11635273" cy="4726294"/>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CONCLUSION</a:t>
            </a:r>
          </a:p>
          <a:p>
            <a:pPr algn="ctr"/>
            <a:endParaRPr lang="en-IN" sz="2000" b="1"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In short, the research successfully implemented and compared the various deep learning architectures of CNN, ResNet50, </a:t>
            </a:r>
            <a:r>
              <a:rPr lang="en-US" sz="1600" dirty="0" err="1">
                <a:latin typeface="Times New Roman" panose="02020603050405020304" pitchFamily="18" charset="0"/>
                <a:cs typeface="Times New Roman" panose="02020603050405020304" pitchFamily="18" charset="0"/>
              </a:rPr>
              <a:t>GoogleNet</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DenseNet</a:t>
            </a:r>
            <a:r>
              <a:rPr lang="en-US" sz="1600" dirty="0">
                <a:latin typeface="Times New Roman" panose="02020603050405020304" pitchFamily="18" charset="0"/>
                <a:cs typeface="Times New Roman" panose="02020603050405020304" pitchFamily="18" charset="0"/>
              </a:rPr>
              <a:t> for OCT image classification. Among the four, </a:t>
            </a:r>
            <a:r>
              <a:rPr lang="en-US" sz="1600" dirty="0" err="1">
                <a:latin typeface="Times New Roman" panose="02020603050405020304" pitchFamily="18" charset="0"/>
                <a:cs typeface="Times New Roman" panose="02020603050405020304" pitchFamily="18" charset="0"/>
              </a:rPr>
              <a:t>DenseNet</a:t>
            </a:r>
            <a:r>
              <a:rPr lang="en-US" sz="1600" dirty="0">
                <a:latin typeface="Times New Roman" panose="02020603050405020304" pitchFamily="18" charset="0"/>
                <a:cs typeface="Times New Roman" panose="02020603050405020304" pitchFamily="18" charset="0"/>
              </a:rPr>
              <a:t> had the best accuracy of 98% and therefore the best precision, recall, and F1-score performance. The model was trained using the Adam optimizer with a learning rate of 0.001, which yielded the best convergence and efficiency. A web application was also created to facilitate easy monitoring and diagnosis and therefore deployable in hospitals. </a:t>
            </a:r>
          </a:p>
          <a:p>
            <a:pPr algn="just">
              <a:lnSpc>
                <a:spcPct val="150000"/>
              </a:lnSpc>
            </a:pPr>
            <a:r>
              <a:rPr lang="en-US" sz="1600" dirty="0">
                <a:latin typeface="Times New Roman" panose="02020603050405020304" pitchFamily="18" charset="0"/>
                <a:cs typeface="Times New Roman" panose="02020603050405020304" pitchFamily="18" charset="0"/>
              </a:rPr>
              <a:t>In the future, the system can be developed further with bigger and more varied datasets, so it can be more effective for complicated cases. Additionally, more sophisticated deep learning methods like transformer-based models or self-supervised learning can be used to further enhance classification accuracy. Cloud-based integration of medical record systems and real-time image processing functionality can also be added to make it more practically implemented in healthcare environments. With ongoing optimization and enhancement of this system, it can have the potential to be a trusted AI-powered diagnostic tool for ophthalmologists to enhance early diagnosis and treatment of retinal disease.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5216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1"/>
            <a:ext cx="12192001" cy="900753"/>
          </a:xfrm>
          <a:solidFill>
            <a:schemeClr val="bg1"/>
          </a:solidFill>
          <a:ln>
            <a:solidFill>
              <a:srgbClr val="CC3300"/>
            </a:solidFill>
          </a:ln>
        </p:spPr>
        <p:txBody>
          <a:bodyPr>
            <a:normAutofit/>
          </a:bodyPr>
          <a:lstStyle/>
          <a:p>
            <a:r>
              <a:rPr lang="en-US" sz="1600" b="1" dirty="0">
                <a:latin typeface="Times New Roman"/>
                <a:ea typeface="Times New Roman"/>
                <a:cs typeface="Times New Roman"/>
                <a:sym typeface="Times New Roman"/>
              </a:rPr>
              <a:t>Retinal Disease Detection and Classification Using Convolutional Neural Networks and </a:t>
            </a:r>
            <a:br>
              <a:rPr lang="en-US" sz="1600" b="1" dirty="0">
                <a:latin typeface="Times New Roman"/>
                <a:ea typeface="Times New Roman"/>
                <a:cs typeface="Times New Roman"/>
                <a:sym typeface="Times New Roman"/>
              </a:rPr>
            </a:br>
            <a:r>
              <a:rPr lang="en-US" sz="1600" b="1" dirty="0">
                <a:latin typeface="Times New Roman"/>
                <a:ea typeface="Times New Roman"/>
                <a:cs typeface="Times New Roman"/>
                <a:sym typeface="Times New Roman"/>
              </a:rPr>
              <a:t>Transfer Learning</a:t>
            </a:r>
            <a:br>
              <a:rPr lang="en-US" sz="16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Paper ID:-338</a:t>
            </a:r>
            <a:endParaRPr lang="en-IN" sz="2000" dirty="0">
              <a:latin typeface="Times New Roman" panose="02020603050405020304" pitchFamily="18" charset="0"/>
              <a:cs typeface="Times New Roman" panose="02020603050405020304" pitchFamily="18" charset="0"/>
            </a:endParaRPr>
          </a:p>
        </p:txBody>
      </p:sp>
      <p:sp>
        <p:nvSpPr>
          <p:cNvPr id="12" name="Rectangle 11"/>
          <p:cNvSpPr/>
          <p:nvPr/>
        </p:nvSpPr>
        <p:spPr>
          <a:xfrm>
            <a:off x="-1" y="6045693"/>
            <a:ext cx="12191999" cy="8123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b="1" i="1" dirty="0">
                <a:solidFill>
                  <a:srgbClr val="000000"/>
                </a:solidFill>
                <a:latin typeface="Times New Roman" panose="02020603050405020304" pitchFamily="18" charset="0"/>
              </a:rPr>
              <a:t>    </a:t>
            </a:r>
            <a:r>
              <a:rPr lang="en-US" sz="1800" b="1" i="0" dirty="0">
                <a:solidFill>
                  <a:srgbClr val="212121"/>
                </a:solidFill>
                <a:effectLst/>
                <a:latin typeface="Lato"/>
              </a:rPr>
              <a:t>International Conference on Advanced Research in Electronics and Communication Systems </a:t>
            </a:r>
            <a:endParaRPr lang="en-US" sz="1800" b="0" i="0" dirty="0">
              <a:solidFill>
                <a:srgbClr val="212121"/>
              </a:solidFill>
              <a:effectLst/>
              <a:latin typeface="Lato"/>
            </a:endParaRPr>
          </a:p>
          <a:p>
            <a:pPr algn="ctr" rtl="0"/>
            <a:r>
              <a:rPr lang="en-US" sz="1800" b="0" i="0" dirty="0">
                <a:solidFill>
                  <a:srgbClr val="212121"/>
                </a:solidFill>
                <a:effectLst/>
                <a:latin typeface="Lato"/>
              </a:rPr>
              <a:t>(</a:t>
            </a:r>
            <a:r>
              <a:rPr lang="en-US" sz="1800" b="1" i="1" dirty="0">
                <a:solidFill>
                  <a:srgbClr val="212121"/>
                </a:solidFill>
                <a:effectLst/>
                <a:latin typeface="Lato"/>
              </a:rPr>
              <a:t>ICARECS-2025</a:t>
            </a:r>
            <a:r>
              <a:rPr lang="en-US" sz="1800" b="0" i="0" dirty="0">
                <a:solidFill>
                  <a:srgbClr val="212121"/>
                </a:solidFill>
                <a:effectLst/>
                <a:latin typeface="Lato"/>
              </a:rPr>
              <a:t>) </a:t>
            </a:r>
          </a:p>
          <a:p>
            <a:pPr algn="ctr"/>
            <a:r>
              <a:rPr lang="en-US" sz="1600" b="1" i="1" dirty="0">
                <a:solidFill>
                  <a:srgbClr val="FF0000"/>
                </a:solidFill>
                <a:latin typeface="Times New Roman" panose="02020603050405020304" pitchFamily="18" charset="0"/>
              </a:rPr>
              <a:t>(26-27 February, 2025)</a:t>
            </a:r>
            <a:endParaRPr lang="en-IN" sz="1600" b="1" i="1" dirty="0">
              <a:solidFill>
                <a:srgbClr val="FF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E8CA1451-7456-D917-D1B7-6C3ABD478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29" y="38912"/>
            <a:ext cx="1967047" cy="828311"/>
          </a:xfrm>
          <a:prstGeom prst="rect">
            <a:avLst/>
          </a:prstGeom>
        </p:spPr>
      </p:pic>
      <p:pic>
        <p:nvPicPr>
          <p:cNvPr id="1026" name="Picture 2">
            <a:extLst>
              <a:ext uri="{FF2B5EF4-FFF2-40B4-BE49-F238E27FC236}">
                <a16:creationId xmlns:a16="http://schemas.microsoft.com/office/drawing/2014/main" id="{0208E776-E087-67F7-C9F4-B76D944E82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42686" y="49533"/>
            <a:ext cx="1293571" cy="8123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BFF6633-36C4-4ABC-FBF8-4C701862A7C8}"/>
              </a:ext>
            </a:extLst>
          </p:cNvPr>
          <p:cNvSpPr txBox="1"/>
          <p:nvPr/>
        </p:nvSpPr>
        <p:spPr>
          <a:xfrm>
            <a:off x="158620" y="1138334"/>
            <a:ext cx="11877637" cy="4793107"/>
          </a:xfrm>
          <a:prstGeom prst="rect">
            <a:avLst/>
          </a:prstGeom>
          <a:noFill/>
        </p:spPr>
        <p:txBody>
          <a:bodyPr wrap="square" rtlCol="0">
            <a:spAutoFit/>
          </a:bodyPr>
          <a:lstStyle/>
          <a:p>
            <a:pPr marL="318" lvl="0" indent="0" algn="l" rtl="0">
              <a:lnSpc>
                <a:spcPct val="70000"/>
              </a:lnSpc>
              <a:spcBef>
                <a:spcPts val="0"/>
              </a:spcBef>
              <a:spcAft>
                <a:spcPts val="0"/>
              </a:spcAft>
              <a:buClr>
                <a:schemeClr val="dk1"/>
              </a:buClr>
              <a:buSzPts val="1660"/>
              <a:buNone/>
            </a:pPr>
            <a:endParaRPr lang="en-US" sz="1800" dirty="0">
              <a:latin typeface="Times New Roman"/>
              <a:ea typeface="Times New Roman"/>
              <a:cs typeface="Times New Roman"/>
              <a:sym typeface="Times New Roman"/>
            </a:endParaRPr>
          </a:p>
          <a:p>
            <a:pPr marL="318" lvl="0" indent="0" algn="ctr" rtl="0">
              <a:lnSpc>
                <a:spcPct val="70000"/>
              </a:lnSpc>
              <a:spcBef>
                <a:spcPts val="0"/>
              </a:spcBef>
              <a:spcAft>
                <a:spcPts val="0"/>
              </a:spcAft>
              <a:buClr>
                <a:schemeClr val="dk1"/>
              </a:buClr>
              <a:buSzPts val="1660"/>
              <a:buNone/>
            </a:pPr>
            <a:r>
              <a:rPr lang="en-US" sz="2000" b="1" dirty="0">
                <a:latin typeface="Times New Roman"/>
                <a:ea typeface="Times New Roman"/>
                <a:cs typeface="Times New Roman"/>
                <a:sym typeface="Times New Roman"/>
              </a:rPr>
              <a:t>REFERENCES</a:t>
            </a:r>
          </a:p>
          <a:p>
            <a:pPr marL="318" lvl="0" indent="0" algn="l" rtl="0">
              <a:lnSpc>
                <a:spcPct val="70000"/>
              </a:lnSpc>
              <a:spcBef>
                <a:spcPts val="0"/>
              </a:spcBef>
              <a:spcAft>
                <a:spcPts val="0"/>
              </a:spcAft>
              <a:buClr>
                <a:schemeClr val="dk1"/>
              </a:buClr>
              <a:buSzPts val="1660"/>
              <a:buNone/>
            </a:pPr>
            <a:endParaRPr lang="en-US" sz="1600" dirty="0">
              <a:latin typeface="Times New Roman"/>
              <a:ea typeface="Times New Roman"/>
              <a:cs typeface="Times New Roman"/>
              <a:sym typeface="Times New Roman"/>
            </a:endParaRPr>
          </a:p>
          <a:p>
            <a:pPr marL="318" lvl="0" indent="0" algn="l" rtl="0">
              <a:spcBef>
                <a:spcPts val="0"/>
              </a:spcBef>
              <a:spcAft>
                <a:spcPts val="0"/>
              </a:spcAft>
              <a:buClr>
                <a:schemeClr val="dk1"/>
              </a:buClr>
              <a:buSzPts val="1660"/>
              <a:buNone/>
            </a:pPr>
            <a:endParaRPr lang="en-US" sz="1600" dirty="0">
              <a:latin typeface="Times New Roman"/>
              <a:ea typeface="Times New Roman"/>
              <a:cs typeface="Times New Roman"/>
              <a:sym typeface="Times New Roman"/>
            </a:endParaRPr>
          </a:p>
          <a:p>
            <a:pPr marL="318" lvl="0" indent="0" algn="l" rtl="0">
              <a:spcBef>
                <a:spcPts val="0"/>
              </a:spcBef>
              <a:spcAft>
                <a:spcPts val="0"/>
              </a:spcAft>
              <a:buClr>
                <a:schemeClr val="dk1"/>
              </a:buClr>
              <a:buSzPts val="1660"/>
              <a:buNone/>
            </a:pPr>
            <a:r>
              <a:rPr lang="en-US" sz="1600" dirty="0">
                <a:latin typeface="Times New Roman"/>
                <a:ea typeface="Times New Roman"/>
                <a:cs typeface="Times New Roman"/>
                <a:sym typeface="Times New Roman"/>
              </a:rPr>
              <a:t>[1] K. Patil, A. Mahajan, S. Balamurugan, P. </a:t>
            </a:r>
            <a:r>
              <a:rPr lang="en-US" sz="1600" dirty="0" err="1">
                <a:latin typeface="Times New Roman"/>
                <a:ea typeface="Times New Roman"/>
                <a:cs typeface="Times New Roman"/>
                <a:sym typeface="Times New Roman"/>
              </a:rPr>
              <a:t>Arulmozhivarman</a:t>
            </a:r>
            <a:r>
              <a:rPr lang="en-US" sz="1600" dirty="0">
                <a:latin typeface="Times New Roman"/>
                <a:ea typeface="Times New Roman"/>
                <a:cs typeface="Times New Roman"/>
                <a:sym typeface="Times New Roman"/>
              </a:rPr>
              <a:t> and R. Makkar, "Development of Signal Processing Algorithm for Optical Coherence Tomography", Proc. 2020 IEEE Int. Conf. Commun. Signal Process. ICCSP 2020, pp. 1283-1287, 2020.</a:t>
            </a:r>
          </a:p>
          <a:p>
            <a:pPr marL="8891" lvl="0" indent="0" algn="l" rtl="0">
              <a:spcBef>
                <a:spcPts val="1000"/>
              </a:spcBef>
              <a:spcAft>
                <a:spcPts val="0"/>
              </a:spcAft>
              <a:buSzPts val="1660"/>
              <a:buNone/>
            </a:pPr>
            <a:r>
              <a:rPr lang="en-US" sz="1600" dirty="0">
                <a:latin typeface="Times New Roman"/>
                <a:ea typeface="Times New Roman"/>
                <a:cs typeface="Times New Roman"/>
                <a:sym typeface="Times New Roman"/>
              </a:rPr>
              <a:t>[2] Y. Huang et al., "Noise-Powered Disentangled Representation for Unsupervised Speckle Reduction of Optical Coherence Tomography Images," in IEEE Transactions on Medical Imaging, vol. 40, no. 10, pp. 2600-2614, Oct. 2021, </a:t>
            </a:r>
            <a:r>
              <a:rPr lang="en-US" sz="1600" dirty="0" err="1">
                <a:latin typeface="Times New Roman"/>
                <a:ea typeface="Times New Roman"/>
                <a:cs typeface="Times New Roman"/>
                <a:sym typeface="Times New Roman"/>
              </a:rPr>
              <a:t>doi</a:t>
            </a:r>
            <a:r>
              <a:rPr lang="en-US" sz="1600" dirty="0">
                <a:latin typeface="Times New Roman"/>
                <a:ea typeface="Times New Roman"/>
                <a:cs typeface="Times New Roman"/>
                <a:sym typeface="Times New Roman"/>
              </a:rPr>
              <a:t>: 10.1109/TMI.2020.3045207.</a:t>
            </a:r>
          </a:p>
          <a:p>
            <a:pPr marL="8891" lvl="0" indent="0" algn="l" rtl="0">
              <a:spcBef>
                <a:spcPts val="1000"/>
              </a:spcBef>
              <a:spcAft>
                <a:spcPts val="0"/>
              </a:spcAft>
              <a:buSzPts val="1660"/>
              <a:buNone/>
            </a:pPr>
            <a:r>
              <a:rPr lang="en-US" sz="1600" dirty="0">
                <a:latin typeface="Times New Roman"/>
                <a:ea typeface="Times New Roman"/>
                <a:cs typeface="Times New Roman"/>
                <a:sym typeface="Times New Roman"/>
              </a:rPr>
              <a:t>[3] keywords: {Noise </a:t>
            </a:r>
            <a:r>
              <a:rPr lang="en-US" sz="1600" dirty="0" err="1">
                <a:latin typeface="Times New Roman"/>
                <a:ea typeface="Times New Roman"/>
                <a:cs typeface="Times New Roman"/>
                <a:sym typeface="Times New Roman"/>
              </a:rPr>
              <a:t>measurement;Speckle;Generators;Noise</a:t>
            </a:r>
            <a:r>
              <a:rPr lang="en-US" sz="1600" dirty="0">
                <a:latin typeface="Times New Roman"/>
                <a:ea typeface="Times New Roman"/>
                <a:cs typeface="Times New Roman"/>
                <a:sym typeface="Times New Roman"/>
              </a:rPr>
              <a:t> </a:t>
            </a:r>
            <a:r>
              <a:rPr lang="en-US" sz="1600" dirty="0" err="1">
                <a:latin typeface="Times New Roman"/>
                <a:ea typeface="Times New Roman"/>
                <a:cs typeface="Times New Roman"/>
                <a:sym typeface="Times New Roman"/>
              </a:rPr>
              <a:t>reduction;Image</a:t>
            </a:r>
            <a:r>
              <a:rPr lang="en-US" sz="1600" dirty="0">
                <a:latin typeface="Times New Roman"/>
                <a:ea typeface="Times New Roman"/>
                <a:cs typeface="Times New Roman"/>
                <a:sym typeface="Times New Roman"/>
              </a:rPr>
              <a:t> </a:t>
            </a:r>
            <a:r>
              <a:rPr lang="en-US" sz="1600" dirty="0" err="1">
                <a:latin typeface="Times New Roman"/>
                <a:ea typeface="Times New Roman"/>
                <a:cs typeface="Times New Roman"/>
                <a:sym typeface="Times New Roman"/>
              </a:rPr>
              <a:t>reconstruction;Image</a:t>
            </a:r>
            <a:r>
              <a:rPr lang="en-US" sz="1600" dirty="0">
                <a:latin typeface="Times New Roman"/>
                <a:ea typeface="Times New Roman"/>
                <a:cs typeface="Times New Roman"/>
                <a:sym typeface="Times New Roman"/>
              </a:rPr>
              <a:t> </a:t>
            </a:r>
            <a:r>
              <a:rPr lang="en-US" sz="1600" dirty="0" err="1">
                <a:latin typeface="Times New Roman"/>
                <a:ea typeface="Times New Roman"/>
                <a:cs typeface="Times New Roman"/>
                <a:sym typeface="Times New Roman"/>
              </a:rPr>
              <a:t>denoising;Generative</a:t>
            </a:r>
            <a:r>
              <a:rPr lang="en-US" sz="1600" dirty="0">
                <a:latin typeface="Times New Roman"/>
                <a:ea typeface="Times New Roman"/>
                <a:cs typeface="Times New Roman"/>
                <a:sym typeface="Times New Roman"/>
              </a:rPr>
              <a:t> adversarial </a:t>
            </a:r>
            <a:r>
              <a:rPr lang="en-US" sz="1600" dirty="0" err="1">
                <a:latin typeface="Times New Roman"/>
                <a:ea typeface="Times New Roman"/>
                <a:cs typeface="Times New Roman"/>
                <a:sym typeface="Times New Roman"/>
              </a:rPr>
              <a:t>networks;Disentangled</a:t>
            </a:r>
            <a:r>
              <a:rPr lang="en-US" sz="1600" dirty="0">
                <a:latin typeface="Times New Roman"/>
                <a:ea typeface="Times New Roman"/>
                <a:cs typeface="Times New Roman"/>
                <a:sym typeface="Times New Roman"/>
              </a:rPr>
              <a:t> </a:t>
            </a:r>
            <a:r>
              <a:rPr lang="en-US" sz="1600" dirty="0" err="1">
                <a:latin typeface="Times New Roman"/>
                <a:ea typeface="Times New Roman"/>
                <a:cs typeface="Times New Roman"/>
                <a:sym typeface="Times New Roman"/>
              </a:rPr>
              <a:t>representation;optical</a:t>
            </a:r>
            <a:r>
              <a:rPr lang="en-US" sz="1600" dirty="0">
                <a:latin typeface="Times New Roman"/>
                <a:ea typeface="Times New Roman"/>
                <a:cs typeface="Times New Roman"/>
                <a:sym typeface="Times New Roman"/>
              </a:rPr>
              <a:t> coherence </a:t>
            </a:r>
            <a:r>
              <a:rPr lang="en-US" sz="1600" dirty="0" err="1">
                <a:latin typeface="Times New Roman"/>
                <a:ea typeface="Times New Roman"/>
                <a:cs typeface="Times New Roman"/>
                <a:sym typeface="Times New Roman"/>
              </a:rPr>
              <a:t>tomography;speckle</a:t>
            </a:r>
            <a:r>
              <a:rPr lang="en-US" sz="1600" dirty="0">
                <a:latin typeface="Times New Roman"/>
                <a:ea typeface="Times New Roman"/>
                <a:cs typeface="Times New Roman"/>
                <a:sym typeface="Times New Roman"/>
              </a:rPr>
              <a:t> </a:t>
            </a:r>
            <a:r>
              <a:rPr lang="en-US" sz="1600" dirty="0" err="1">
                <a:latin typeface="Times New Roman"/>
                <a:ea typeface="Times New Roman"/>
                <a:cs typeface="Times New Roman"/>
                <a:sym typeface="Times New Roman"/>
              </a:rPr>
              <a:t>reduction;unsupervised</a:t>
            </a:r>
            <a:r>
              <a:rPr lang="en-US" sz="1600" dirty="0">
                <a:latin typeface="Times New Roman"/>
                <a:ea typeface="Times New Roman"/>
                <a:cs typeface="Times New Roman"/>
                <a:sym typeface="Times New Roman"/>
              </a:rPr>
              <a:t> learning},</a:t>
            </a:r>
          </a:p>
          <a:p>
            <a:pPr marL="318" lvl="0" indent="0" algn="l" rtl="0">
              <a:spcBef>
                <a:spcPts val="1000"/>
              </a:spcBef>
              <a:spcAft>
                <a:spcPts val="0"/>
              </a:spcAft>
              <a:buClr>
                <a:schemeClr val="dk1"/>
              </a:buClr>
              <a:buSzPts val="1660"/>
              <a:buNone/>
            </a:pPr>
            <a:r>
              <a:rPr lang="en-US" sz="1600" dirty="0">
                <a:latin typeface="Times New Roman"/>
                <a:ea typeface="Times New Roman"/>
                <a:cs typeface="Times New Roman"/>
                <a:sym typeface="Times New Roman"/>
              </a:rPr>
              <a:t>[4] M. D. </a:t>
            </a:r>
            <a:r>
              <a:rPr lang="en-US" sz="1600" dirty="0" err="1">
                <a:latin typeface="Times New Roman"/>
                <a:ea typeface="Times New Roman"/>
                <a:cs typeface="Times New Roman"/>
                <a:sym typeface="Times New Roman"/>
              </a:rPr>
              <a:t>Abràmoff</a:t>
            </a:r>
            <a:r>
              <a:rPr lang="en-US" sz="1600" dirty="0">
                <a:latin typeface="Times New Roman"/>
                <a:ea typeface="Times New Roman"/>
                <a:cs typeface="Times New Roman"/>
                <a:sym typeface="Times New Roman"/>
              </a:rPr>
              <a:t>, M. K. Garvin and M. </a:t>
            </a:r>
            <a:r>
              <a:rPr lang="en-US" sz="1600" dirty="0" err="1">
                <a:latin typeface="Times New Roman"/>
                <a:ea typeface="Times New Roman"/>
                <a:cs typeface="Times New Roman"/>
                <a:sym typeface="Times New Roman"/>
              </a:rPr>
              <a:t>Sonka</a:t>
            </a:r>
            <a:r>
              <a:rPr lang="en-US" sz="1600" dirty="0">
                <a:latin typeface="Times New Roman"/>
                <a:ea typeface="Times New Roman"/>
                <a:cs typeface="Times New Roman"/>
                <a:sym typeface="Times New Roman"/>
              </a:rPr>
              <a:t>, "Retinal imaging and image analysis", IEEE Rev. Biomed. Eng., vol. 3, pp. 169-208, 2022.</a:t>
            </a:r>
          </a:p>
          <a:p>
            <a:pPr marL="318" lvl="0" indent="0" algn="l" rtl="0">
              <a:spcBef>
                <a:spcPts val="1000"/>
              </a:spcBef>
              <a:spcAft>
                <a:spcPts val="0"/>
              </a:spcAft>
              <a:buClr>
                <a:schemeClr val="dk1"/>
              </a:buClr>
              <a:buSzPts val="1660"/>
              <a:buNone/>
            </a:pPr>
            <a:r>
              <a:rPr lang="en-US" sz="1600" dirty="0">
                <a:latin typeface="Times New Roman"/>
                <a:ea typeface="Times New Roman"/>
                <a:cs typeface="Times New Roman"/>
                <a:sym typeface="Times New Roman"/>
              </a:rPr>
              <a:t>[5] Y. Roh, G. Heo and S. E. Whang, "A survey on data collection for machine learning: a big data-ai integration perspective", IEEE Transactions on Knowledge and Data Engineering</a:t>
            </a:r>
          </a:p>
          <a:p>
            <a:pPr marL="318" lvl="0" indent="0" algn="l" rtl="0">
              <a:spcBef>
                <a:spcPts val="1000"/>
              </a:spcBef>
              <a:spcAft>
                <a:spcPts val="0"/>
              </a:spcAft>
              <a:buClr>
                <a:schemeClr val="dk1"/>
              </a:buClr>
              <a:buSzPts val="1660"/>
              <a:buNone/>
            </a:pPr>
            <a:r>
              <a:rPr lang="en-US" sz="1600" dirty="0">
                <a:latin typeface="Times New Roman"/>
                <a:ea typeface="Times New Roman"/>
                <a:cs typeface="Times New Roman"/>
                <a:sym typeface="Times New Roman"/>
              </a:rPr>
              <a:t>[6] </a:t>
            </a:r>
            <a:r>
              <a:rPr lang="en-US" sz="1600" dirty="0" err="1">
                <a:latin typeface="Times New Roman"/>
                <a:ea typeface="Times New Roman"/>
                <a:cs typeface="Times New Roman"/>
                <a:sym typeface="Times New Roman"/>
              </a:rPr>
              <a:t>Kulyabin</a:t>
            </a:r>
            <a:r>
              <a:rPr lang="en-US" sz="1600" dirty="0">
                <a:latin typeface="Times New Roman"/>
                <a:ea typeface="Times New Roman"/>
                <a:cs typeface="Times New Roman"/>
                <a:sym typeface="Times New Roman"/>
              </a:rPr>
              <a:t>, Mikhail; Zhdanov, Aleksei; Nikiforova, Anastasia; </a:t>
            </a:r>
            <a:r>
              <a:rPr lang="en-US" sz="1600" dirty="0" err="1">
                <a:latin typeface="Times New Roman"/>
                <a:ea typeface="Times New Roman"/>
                <a:cs typeface="Times New Roman"/>
                <a:sym typeface="Times New Roman"/>
              </a:rPr>
              <a:t>Stepichev</a:t>
            </a:r>
            <a:r>
              <a:rPr lang="en-US" sz="1600" dirty="0">
                <a:latin typeface="Times New Roman"/>
                <a:ea typeface="Times New Roman"/>
                <a:cs typeface="Times New Roman"/>
                <a:sym typeface="Times New Roman"/>
              </a:rPr>
              <a:t>, Andrey; Kuznetsova, Anna; Borisov, </a:t>
            </a:r>
            <a:r>
              <a:rPr lang="en-US" sz="1600" dirty="0" err="1">
                <a:latin typeface="Times New Roman"/>
                <a:ea typeface="Times New Roman"/>
                <a:cs typeface="Times New Roman"/>
                <a:sym typeface="Times New Roman"/>
              </a:rPr>
              <a:t>Vasilii</a:t>
            </a:r>
            <a:r>
              <a:rPr lang="en-US" sz="1600" dirty="0">
                <a:latin typeface="Times New Roman"/>
                <a:ea typeface="Times New Roman"/>
                <a:cs typeface="Times New Roman"/>
                <a:sym typeface="Times New Roman"/>
              </a:rPr>
              <a:t>; </a:t>
            </a:r>
            <a:r>
              <a:rPr lang="en-US" sz="1600" dirty="0" err="1">
                <a:latin typeface="Times New Roman"/>
                <a:ea typeface="Times New Roman"/>
                <a:cs typeface="Times New Roman"/>
                <a:sym typeface="Times New Roman"/>
              </a:rPr>
              <a:t>Ronkin</a:t>
            </a:r>
            <a:r>
              <a:rPr lang="en-US" sz="1600" dirty="0">
                <a:latin typeface="Times New Roman"/>
                <a:ea typeface="Times New Roman"/>
                <a:cs typeface="Times New Roman"/>
                <a:sym typeface="Times New Roman"/>
              </a:rPr>
              <a:t>, Mikhail; Bogachev, Alexander; </a:t>
            </a:r>
            <a:r>
              <a:rPr lang="en-US" sz="1600" dirty="0" err="1">
                <a:latin typeface="Times New Roman"/>
                <a:ea typeface="Times New Roman"/>
                <a:cs typeface="Times New Roman"/>
                <a:sym typeface="Times New Roman"/>
              </a:rPr>
              <a:t>Korotkich</a:t>
            </a:r>
            <a:r>
              <a:rPr lang="en-US" sz="1600" dirty="0">
                <a:latin typeface="Times New Roman"/>
                <a:ea typeface="Times New Roman"/>
                <a:cs typeface="Times New Roman"/>
                <a:sym typeface="Times New Roman"/>
              </a:rPr>
              <a:t>, Sergey; Maier, Andreas (2024), “OCTDL: Optical Coherence Tomography Dataset for Image-Based Deep Learning Methods”, Mendeley Data, V4, </a:t>
            </a:r>
            <a:r>
              <a:rPr lang="en-US" sz="1600" dirty="0" err="1">
                <a:latin typeface="Times New Roman"/>
                <a:ea typeface="Times New Roman"/>
                <a:cs typeface="Times New Roman"/>
                <a:sym typeface="Times New Roman"/>
              </a:rPr>
              <a:t>doi</a:t>
            </a:r>
            <a:r>
              <a:rPr lang="en-US" sz="1600" dirty="0">
                <a:latin typeface="Times New Roman"/>
                <a:ea typeface="Times New Roman"/>
                <a:cs typeface="Times New Roman"/>
                <a:sym typeface="Times New Roman"/>
              </a:rPr>
              <a:t>: 10.17632/sncdhf53xc.4</a:t>
            </a:r>
          </a:p>
          <a:p>
            <a:endParaRPr lang="en-IN" dirty="0"/>
          </a:p>
        </p:txBody>
      </p:sp>
    </p:spTree>
    <p:extLst>
      <p:ext uri="{BB962C8B-B14F-4D97-AF65-F5344CB8AC3E}">
        <p14:creationId xmlns:p14="http://schemas.microsoft.com/office/powerpoint/2010/main" val="1113552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556</TotalTime>
  <Words>1785</Words>
  <Application>Microsoft Office PowerPoint</Application>
  <PresentationFormat>Widescreen</PresentationFormat>
  <Paragraphs>213</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Lato</vt:lpstr>
      <vt:lpstr>Times New Roman</vt:lpstr>
      <vt:lpstr>Wingdings</vt:lpstr>
      <vt:lpstr>Office Theme</vt:lpstr>
      <vt:lpstr>PowerPoint Presentation</vt:lpstr>
      <vt:lpstr>          Retinal Disease Detection and Classification Using Convolutional Neural Networks and  Transfer Learning  Paper ID:-338</vt:lpstr>
      <vt:lpstr>Retinal Disease Detection and Classification Using Convolutional Neural Networks and  Transfer Learning Paper ID:- 338</vt:lpstr>
      <vt:lpstr>Retinal Disease Detection and Classification Using Convolutional Neural Networks and  Transfer Learning Paper ID:-338</vt:lpstr>
      <vt:lpstr>Retinal Disease Detection and Classification Using Convolutional Neural Networks and  Transfer Learning Paper ID:-338</vt:lpstr>
      <vt:lpstr>Retinal Disease Detection and Classification Using Convolutional Neural Networks and  Transfer Learning Paper ID:-338</vt:lpstr>
      <vt:lpstr>Retinal Disease Detection and Classification Using Convolutional Neural Networks and  Transfer Learning Paper ID:-338</vt:lpstr>
      <vt:lpstr>Retinal Disease Detection and Classification Using Convolutional Neural Networks and  Transfer Learning Paper ID:-338</vt:lpstr>
      <vt:lpstr>Retinal Disease Detection and Classification Using Convolutional Neural Networks and  Transfer Learning Paper ID:-338</vt:lpstr>
      <vt:lpstr>Retinal Disease Detection and Classification Using Convolutional Neural Networks and  Transfer Learning Paper ID:-338</vt:lpstr>
      <vt:lpstr>Retinal Disease Detection and Classification Using Convolutional Neural Networks and  Transfer Learning Paper ID:-338</vt:lpstr>
      <vt:lpstr>Retinal Disease Detection and Classification Using Convolutional Neural Networks and  Transfer Learning Paper ID:-338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Ritika</dc:creator>
  <cp:lastModifiedBy>Aditya Agarwal</cp:lastModifiedBy>
  <cp:revision>53</cp:revision>
  <dcterms:created xsi:type="dcterms:W3CDTF">2022-10-27T05:03:26Z</dcterms:created>
  <dcterms:modified xsi:type="dcterms:W3CDTF">2025-02-26T10:05:56Z</dcterms:modified>
</cp:coreProperties>
</file>